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T Marxiana Antigua" charset="1" panose="02080602070100020303"/>
      <p:regular r:id="rId14"/>
    </p:embeddedFont>
    <p:embeddedFont>
      <p:font typeface="Source Sans Pro" charset="1" panose="020B0503030403020204"/>
      <p:regular r:id="rId15"/>
    </p:embeddedFont>
    <p:embeddedFont>
      <p:font typeface="Source Sans Pro Bold" charset="1" panose="020B0703030403020204"/>
      <p:regular r:id="rId16"/>
    </p:embeddedFont>
    <p:embeddedFont>
      <p:font typeface="Montserrat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74190" y="-918582"/>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5606" y="2803493"/>
            <a:ext cx="1645692" cy="1642700"/>
          </a:xfrm>
          <a:custGeom>
            <a:avLst/>
            <a:gdLst/>
            <a:ahLst/>
            <a:cxnLst/>
            <a:rect r="r" b="b" t="t" l="l"/>
            <a:pathLst>
              <a:path h="1642700" w="1645692">
                <a:moveTo>
                  <a:pt x="0" y="0"/>
                </a:moveTo>
                <a:lnTo>
                  <a:pt x="1645692" y="0"/>
                </a:lnTo>
                <a:lnTo>
                  <a:pt x="1645692"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5982">
            <a:off x="14459420" y="6831570"/>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831725">
            <a:off x="-742937" y="7811340"/>
            <a:ext cx="3125458" cy="3497537"/>
          </a:xfrm>
          <a:custGeom>
            <a:avLst/>
            <a:gdLst/>
            <a:ahLst/>
            <a:cxnLst/>
            <a:rect r="r" b="b" t="t" l="l"/>
            <a:pathLst>
              <a:path h="3497537" w="3125458">
                <a:moveTo>
                  <a:pt x="0" y="0"/>
                </a:moveTo>
                <a:lnTo>
                  <a:pt x="3125458" y="0"/>
                </a:lnTo>
                <a:lnTo>
                  <a:pt x="3125458" y="3497537"/>
                </a:lnTo>
                <a:lnTo>
                  <a:pt x="0" y="3497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3473863" y="7880583"/>
            <a:ext cx="2196274" cy="4114800"/>
          </a:xfrm>
          <a:custGeom>
            <a:avLst/>
            <a:gdLst/>
            <a:ahLst/>
            <a:cxnLst/>
            <a:rect r="r" b="b" t="t" l="l"/>
            <a:pathLst>
              <a:path h="4114800" w="2196274">
                <a:moveTo>
                  <a:pt x="0" y="0"/>
                </a:moveTo>
                <a:lnTo>
                  <a:pt x="2196274" y="0"/>
                </a:lnTo>
                <a:lnTo>
                  <a:pt x="21962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351741" y="-1083926"/>
            <a:ext cx="2440518" cy="2623557"/>
          </a:xfrm>
          <a:custGeom>
            <a:avLst/>
            <a:gdLst/>
            <a:ahLst/>
            <a:cxnLst/>
            <a:rect r="r" b="b" t="t" l="l"/>
            <a:pathLst>
              <a:path h="2623557" w="2440518">
                <a:moveTo>
                  <a:pt x="0" y="0"/>
                </a:moveTo>
                <a:lnTo>
                  <a:pt x="2440518" y="0"/>
                </a:lnTo>
                <a:lnTo>
                  <a:pt x="2440518" y="2623556"/>
                </a:lnTo>
                <a:lnTo>
                  <a:pt x="0" y="26235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3351741" y="2401820"/>
            <a:ext cx="13061842" cy="3575049"/>
          </a:xfrm>
          <a:prstGeom prst="rect">
            <a:avLst/>
          </a:prstGeom>
        </p:spPr>
        <p:txBody>
          <a:bodyPr anchor="t" rtlCol="false" tIns="0" lIns="0" bIns="0" rIns="0">
            <a:spAutoFit/>
          </a:bodyPr>
          <a:lstStyle/>
          <a:p>
            <a:pPr algn="ctr">
              <a:lnSpc>
                <a:spcPts val="9199"/>
              </a:lnSpc>
            </a:pPr>
            <a:r>
              <a:rPr lang="en-US" sz="9999">
                <a:solidFill>
                  <a:srgbClr val="5E7B97"/>
                </a:solidFill>
                <a:latin typeface="TT Marxiana Antigua"/>
                <a:ea typeface="TT Marxiana Antigua"/>
                <a:cs typeface="TT Marxiana Antigua"/>
                <a:sym typeface="TT Marxiana Antigua"/>
              </a:rPr>
              <a:t>MovieFlix – Intelligent Movie Search System</a:t>
            </a:r>
          </a:p>
          <a:p>
            <a:pPr algn="ctr">
              <a:lnSpc>
                <a:spcPts val="9199"/>
              </a:lnSpc>
            </a:pPr>
          </a:p>
        </p:txBody>
      </p:sp>
      <p:sp>
        <p:nvSpPr>
          <p:cNvPr name="TextBox 13" id="13"/>
          <p:cNvSpPr txBox="true"/>
          <p:nvPr/>
        </p:nvSpPr>
        <p:spPr>
          <a:xfrm rot="0">
            <a:off x="8798501" y="5234833"/>
            <a:ext cx="9139674" cy="3071841"/>
          </a:xfrm>
          <a:prstGeom prst="rect">
            <a:avLst/>
          </a:prstGeom>
        </p:spPr>
        <p:txBody>
          <a:bodyPr anchor="t" rtlCol="false" tIns="0" lIns="0" bIns="0" rIns="0">
            <a:spAutoFit/>
          </a:bodyPr>
          <a:lstStyle/>
          <a:p>
            <a:pPr algn="l">
              <a:lnSpc>
                <a:spcPts val="6118"/>
              </a:lnSpc>
            </a:pPr>
            <a:r>
              <a:rPr lang="en-US" sz="4370">
                <a:solidFill>
                  <a:srgbClr val="000000"/>
                </a:solidFill>
                <a:latin typeface="Source Sans Pro"/>
                <a:ea typeface="Source Sans Pro"/>
                <a:cs typeface="Source Sans Pro"/>
                <a:sym typeface="Source Sans Pro"/>
              </a:rPr>
              <a:t>Team members :</a:t>
            </a:r>
          </a:p>
          <a:p>
            <a:pPr algn="l">
              <a:lnSpc>
                <a:spcPts val="6118"/>
              </a:lnSpc>
            </a:pPr>
            <a:r>
              <a:rPr lang="en-US" sz="4370">
                <a:solidFill>
                  <a:srgbClr val="000000"/>
                </a:solidFill>
                <a:latin typeface="Source Sans Pro"/>
                <a:ea typeface="Source Sans Pro"/>
                <a:cs typeface="Source Sans Pro"/>
                <a:sym typeface="Source Sans Pro"/>
              </a:rPr>
              <a:t>2520030069 - G.Hemaswi</a:t>
            </a:r>
          </a:p>
          <a:p>
            <a:pPr algn="l">
              <a:lnSpc>
                <a:spcPts val="6118"/>
              </a:lnSpc>
            </a:pPr>
            <a:r>
              <a:rPr lang="en-US" sz="4370">
                <a:solidFill>
                  <a:srgbClr val="000000"/>
                </a:solidFill>
                <a:latin typeface="Source Sans Pro"/>
                <a:ea typeface="Source Sans Pro"/>
                <a:cs typeface="Source Sans Pro"/>
                <a:sym typeface="Source Sans Pro"/>
              </a:rPr>
              <a:t>2520030254 - Simi Ayana</a:t>
            </a:r>
          </a:p>
          <a:p>
            <a:pPr algn="l">
              <a:lnSpc>
                <a:spcPts val="6118"/>
              </a:lnSpc>
            </a:pPr>
            <a:r>
              <a:rPr lang="en-US" sz="4370">
                <a:solidFill>
                  <a:srgbClr val="000000"/>
                </a:solidFill>
                <a:latin typeface="Source Sans Pro"/>
                <a:ea typeface="Source Sans Pro"/>
                <a:cs typeface="Source Sans Pro"/>
                <a:sym typeface="Source Sans Pro"/>
              </a:rPr>
              <a:t>2520030542 - S.Rushvini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435982">
            <a:off x="15850070" y="7152720"/>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1071831" y="8800814"/>
            <a:ext cx="818612" cy="818612"/>
            <a:chOff x="0" y="0"/>
            <a:chExt cx="215602" cy="215602"/>
          </a:xfrm>
        </p:grpSpPr>
        <p:sp>
          <p:nvSpPr>
            <p:cNvPr name="Freeform 8" id="8"/>
            <p:cNvSpPr/>
            <p:nvPr/>
          </p:nvSpPr>
          <p:spPr>
            <a:xfrm flipH="false" flipV="false" rot="0">
              <a:off x="0" y="0"/>
              <a:ext cx="215602" cy="215602"/>
            </a:xfrm>
            <a:custGeom>
              <a:avLst/>
              <a:gdLst/>
              <a:ahLst/>
              <a:cxnLst/>
              <a:rect r="r" b="b" t="t" l="l"/>
              <a:pathLst>
                <a:path h="215602" w="215602">
                  <a:moveTo>
                    <a:pt x="0" y="0"/>
                  </a:moveTo>
                  <a:lnTo>
                    <a:pt x="215602" y="0"/>
                  </a:lnTo>
                  <a:lnTo>
                    <a:pt x="215602" y="215602"/>
                  </a:lnTo>
                  <a:lnTo>
                    <a:pt x="0" y="215602"/>
                  </a:lnTo>
                  <a:close/>
                </a:path>
              </a:pathLst>
            </a:custGeom>
            <a:solidFill>
              <a:srgbClr val="5E7B97"/>
            </a:solidFill>
          </p:spPr>
        </p:sp>
        <p:sp>
          <p:nvSpPr>
            <p:cNvPr name="TextBox 9" id="9"/>
            <p:cNvSpPr txBox="true"/>
            <p:nvPr/>
          </p:nvSpPr>
          <p:spPr>
            <a:xfrm>
              <a:off x="0" y="-38100"/>
              <a:ext cx="215602" cy="25370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71831" y="1293705"/>
            <a:ext cx="10822744" cy="1250893"/>
          </a:xfrm>
          <a:prstGeom prst="rect">
            <a:avLst/>
          </a:prstGeom>
        </p:spPr>
        <p:txBody>
          <a:bodyPr anchor="t" rtlCol="false" tIns="0" lIns="0" bIns="0" rIns="0">
            <a:spAutoFit/>
          </a:bodyPr>
          <a:lstStyle/>
          <a:p>
            <a:pPr algn="l">
              <a:lnSpc>
                <a:spcPts val="9198"/>
              </a:lnSpc>
            </a:pPr>
            <a:r>
              <a:rPr lang="en-US" sz="9998">
                <a:solidFill>
                  <a:srgbClr val="5E7B97"/>
                </a:solidFill>
                <a:latin typeface="TT Marxiana Antigua"/>
                <a:ea typeface="TT Marxiana Antigua"/>
                <a:cs typeface="TT Marxiana Antigua"/>
                <a:sym typeface="TT Marxiana Antigua"/>
              </a:rPr>
              <a:t>Abstract </a:t>
            </a:r>
          </a:p>
        </p:txBody>
      </p:sp>
      <p:sp>
        <p:nvSpPr>
          <p:cNvPr name="TextBox 11" id="11"/>
          <p:cNvSpPr txBox="true"/>
          <p:nvPr/>
        </p:nvSpPr>
        <p:spPr>
          <a:xfrm rot="0">
            <a:off x="1028700" y="8803245"/>
            <a:ext cx="904875" cy="728026"/>
          </a:xfrm>
          <a:prstGeom prst="rect">
            <a:avLst/>
          </a:prstGeom>
        </p:spPr>
        <p:txBody>
          <a:bodyPr anchor="t" rtlCol="false" tIns="0" lIns="0" bIns="0" rIns="0">
            <a:spAutoFit/>
          </a:bodyPr>
          <a:lstStyle/>
          <a:p>
            <a:pPr algn="ctr">
              <a:lnSpc>
                <a:spcPts val="5936"/>
              </a:lnSpc>
            </a:pPr>
            <a:r>
              <a:rPr lang="en-US" sz="4240">
                <a:solidFill>
                  <a:srgbClr val="FFFFFF"/>
                </a:solidFill>
                <a:latin typeface="Source Sans Pro"/>
                <a:ea typeface="Source Sans Pro"/>
                <a:cs typeface="Source Sans Pro"/>
                <a:sym typeface="Source Sans Pro"/>
              </a:rPr>
              <a:t>01</a:t>
            </a:r>
          </a:p>
        </p:txBody>
      </p:sp>
      <p:sp>
        <p:nvSpPr>
          <p:cNvPr name="TextBox 12" id="12"/>
          <p:cNvSpPr txBox="true"/>
          <p:nvPr/>
        </p:nvSpPr>
        <p:spPr>
          <a:xfrm rot="0">
            <a:off x="2359684" y="2763673"/>
            <a:ext cx="13568631" cy="5848350"/>
          </a:xfrm>
          <a:prstGeom prst="rect">
            <a:avLst/>
          </a:prstGeom>
        </p:spPr>
        <p:txBody>
          <a:bodyPr anchor="t" rtlCol="false" tIns="0" lIns="0" bIns="0" rIns="0">
            <a:spAutoFit/>
          </a:bodyPr>
          <a:lstStyle/>
          <a:p>
            <a:pPr algn="just">
              <a:lnSpc>
                <a:spcPts val="4200"/>
              </a:lnSpc>
            </a:pPr>
            <a:r>
              <a:rPr lang="en-US" sz="3000">
                <a:solidFill>
                  <a:srgbClr val="000000"/>
                </a:solidFill>
                <a:latin typeface="Source Sans Pro"/>
                <a:ea typeface="Source Sans Pro"/>
                <a:cs typeface="Source Sans Pro"/>
                <a:sym typeface="Source Sans Pro"/>
              </a:rPr>
              <a:t>The MovieFlix – Intelligent Movie Search System is designed to help users quickly search movies using titles, actors, genres, and keywords. The system stores movie information such as title, genre, director, release year, rating, language, and description in a structured database.</a:t>
            </a:r>
          </a:p>
          <a:p>
            <a:pPr algn="just">
              <a:lnSpc>
                <a:spcPts val="4200"/>
              </a:lnSpc>
            </a:pPr>
          </a:p>
          <a:p>
            <a:pPr algn="just">
              <a:lnSpc>
                <a:spcPts val="4200"/>
              </a:lnSpc>
            </a:pPr>
            <a:r>
              <a:rPr lang="en-US" sz="3000">
                <a:solidFill>
                  <a:srgbClr val="000000"/>
                </a:solidFill>
                <a:latin typeface="Source Sans Pro"/>
                <a:ea typeface="Source Sans Pro"/>
                <a:cs typeface="Source Sans Pro"/>
                <a:sym typeface="Source Sans Pro"/>
              </a:rPr>
              <a:t>To improve search performance, the project uses HashMap for fast data retrieval, Binary Search for efficient searching, Merge Sort for organizing movie records, and </a:t>
            </a:r>
            <a:r>
              <a:rPr lang="en-US" sz="3000">
                <a:solidFill>
                  <a:srgbClr val="000000"/>
                </a:solidFill>
                <a:latin typeface="Source Sans Pro"/>
                <a:ea typeface="Source Sans Pro"/>
                <a:cs typeface="Source Sans Pro"/>
                <a:sym typeface="Source Sans Pro"/>
              </a:rPr>
              <a:t>the Knuth–Morris–Pratt (KMP) Algorithm for keyword matching. The project demonstrates the practical application of Data Structures and Algorithms in building a fast and efficient movie search system.</a:t>
            </a:r>
          </a:p>
          <a:p>
            <a:pPr algn="just">
              <a:lnSpc>
                <a:spcPts val="42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435982">
            <a:off x="15626349" y="7841220"/>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821569" y="708193"/>
            <a:ext cx="10822744" cy="1250949"/>
          </a:xfrm>
          <a:prstGeom prst="rect">
            <a:avLst/>
          </a:prstGeom>
        </p:spPr>
        <p:txBody>
          <a:bodyPr anchor="t" rtlCol="false" tIns="0" lIns="0" bIns="0" rIns="0">
            <a:spAutoFit/>
          </a:bodyPr>
          <a:lstStyle/>
          <a:p>
            <a:pPr algn="l">
              <a:lnSpc>
                <a:spcPts val="9199"/>
              </a:lnSpc>
            </a:pPr>
            <a:r>
              <a:rPr lang="en-US" sz="9999">
                <a:solidFill>
                  <a:srgbClr val="5E7B97"/>
                </a:solidFill>
                <a:latin typeface="TT Marxiana Antigua"/>
                <a:ea typeface="TT Marxiana Antigua"/>
                <a:cs typeface="TT Marxiana Antigua"/>
                <a:sym typeface="TT Marxiana Antigua"/>
              </a:rPr>
              <a:t>Problem Statement</a:t>
            </a:r>
          </a:p>
        </p:txBody>
      </p:sp>
      <p:sp>
        <p:nvSpPr>
          <p:cNvPr name="TextBox 7" id="7"/>
          <p:cNvSpPr txBox="true"/>
          <p:nvPr/>
        </p:nvSpPr>
        <p:spPr>
          <a:xfrm rot="0">
            <a:off x="1071831" y="1901992"/>
            <a:ext cx="12269611" cy="6937854"/>
          </a:xfrm>
          <a:prstGeom prst="rect">
            <a:avLst/>
          </a:prstGeom>
        </p:spPr>
        <p:txBody>
          <a:bodyPr anchor="t" rtlCol="false" tIns="0" lIns="0" bIns="0" rIns="0">
            <a:spAutoFit/>
          </a:bodyPr>
          <a:lstStyle/>
          <a:p>
            <a:pPr algn="just">
              <a:lnSpc>
                <a:spcPts val="4593"/>
              </a:lnSpc>
            </a:pPr>
            <a:r>
              <a:rPr lang="en-US" sz="3280">
                <a:solidFill>
                  <a:srgbClr val="000000"/>
                </a:solidFill>
                <a:latin typeface="Source Sans Pro"/>
                <a:ea typeface="Source Sans Pro"/>
                <a:cs typeface="Source Sans Pro"/>
                <a:sym typeface="Source Sans Pro"/>
              </a:rPr>
              <a:t>Streaming platforms contain thousands of movies, making it difficult for users to quickly find movies based on titles, actors, genres, or keywords. Traditional search methods can be slow and inefficient when handling large datasets.</a:t>
            </a:r>
          </a:p>
          <a:p>
            <a:pPr algn="just">
              <a:lnSpc>
                <a:spcPts val="4593"/>
              </a:lnSpc>
            </a:pPr>
            <a:r>
              <a:rPr lang="en-US" sz="3280">
                <a:solidFill>
                  <a:srgbClr val="000000"/>
                </a:solidFill>
                <a:latin typeface="Source Sans Pro"/>
                <a:ea typeface="Source Sans Pro"/>
                <a:cs typeface="Source Sans Pro"/>
                <a:sym typeface="Source Sans Pro"/>
              </a:rPr>
              <a:t>The MovieFlix – Intelligent Movie Search System aims to provide a fast and efficient movie search experience using Data Structures and Algorithms. The system uses HashMap for quick data retrieval, Binary Search for searching sorted data, Merge Sort for organizing movie records, and the KMP Pattern Matching Algorithm for efficient keyword searches. The goal is to improve search speed, accuracy, and user experience.</a:t>
            </a:r>
          </a:p>
          <a:p>
            <a:pPr algn="just">
              <a:lnSpc>
                <a:spcPts val="4593"/>
              </a:lnSpc>
            </a:pPr>
          </a:p>
        </p:txBody>
      </p:sp>
      <p:grpSp>
        <p:nvGrpSpPr>
          <p:cNvPr name="Group 8" id="8"/>
          <p:cNvGrpSpPr/>
          <p:nvPr/>
        </p:nvGrpSpPr>
        <p:grpSpPr>
          <a:xfrm rot="0">
            <a:off x="1071831" y="8800814"/>
            <a:ext cx="818612" cy="818612"/>
            <a:chOff x="0" y="0"/>
            <a:chExt cx="215602" cy="215602"/>
          </a:xfrm>
        </p:grpSpPr>
        <p:sp>
          <p:nvSpPr>
            <p:cNvPr name="Freeform 9" id="9"/>
            <p:cNvSpPr/>
            <p:nvPr/>
          </p:nvSpPr>
          <p:spPr>
            <a:xfrm flipH="false" flipV="false" rot="0">
              <a:off x="0" y="0"/>
              <a:ext cx="215602" cy="215602"/>
            </a:xfrm>
            <a:custGeom>
              <a:avLst/>
              <a:gdLst/>
              <a:ahLst/>
              <a:cxnLst/>
              <a:rect r="r" b="b" t="t" l="l"/>
              <a:pathLst>
                <a:path h="215602" w="215602">
                  <a:moveTo>
                    <a:pt x="0" y="0"/>
                  </a:moveTo>
                  <a:lnTo>
                    <a:pt x="215602" y="0"/>
                  </a:lnTo>
                  <a:lnTo>
                    <a:pt x="215602" y="215602"/>
                  </a:lnTo>
                  <a:lnTo>
                    <a:pt x="0" y="215602"/>
                  </a:lnTo>
                  <a:close/>
                </a:path>
              </a:pathLst>
            </a:custGeom>
            <a:solidFill>
              <a:srgbClr val="5E7B97"/>
            </a:solidFill>
          </p:spPr>
        </p:sp>
        <p:sp>
          <p:nvSpPr>
            <p:cNvPr name="TextBox 10" id="10"/>
            <p:cNvSpPr txBox="true"/>
            <p:nvPr/>
          </p:nvSpPr>
          <p:spPr>
            <a:xfrm>
              <a:off x="0" y="-38100"/>
              <a:ext cx="215602" cy="25370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8803245"/>
            <a:ext cx="904875" cy="728026"/>
          </a:xfrm>
          <a:prstGeom prst="rect">
            <a:avLst/>
          </a:prstGeom>
        </p:spPr>
        <p:txBody>
          <a:bodyPr anchor="t" rtlCol="false" tIns="0" lIns="0" bIns="0" rIns="0">
            <a:spAutoFit/>
          </a:bodyPr>
          <a:lstStyle/>
          <a:p>
            <a:pPr algn="ctr">
              <a:lnSpc>
                <a:spcPts val="5936"/>
              </a:lnSpc>
            </a:pPr>
            <a:r>
              <a:rPr lang="en-US" sz="4240">
                <a:solidFill>
                  <a:srgbClr val="FFFFFF"/>
                </a:solidFill>
                <a:latin typeface="Source Sans Pro"/>
                <a:ea typeface="Source Sans Pro"/>
                <a:cs typeface="Source Sans Pro"/>
                <a:sym typeface="Source Sans Pro"/>
              </a:rPr>
              <a:t>02</a:t>
            </a:r>
          </a:p>
        </p:txBody>
      </p:sp>
      <p:sp>
        <p:nvSpPr>
          <p:cNvPr name="TextBox 12" id="12"/>
          <p:cNvSpPr txBox="true"/>
          <p:nvPr/>
        </p:nvSpPr>
        <p:spPr>
          <a:xfrm rot="0">
            <a:off x="13701712" y="3519894"/>
            <a:ext cx="4337149" cy="3692525"/>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Source Sans Pro"/>
                <a:ea typeface="Source Sans Pro"/>
                <a:cs typeface="Source Sans Pro"/>
                <a:sym typeface="Source Sans Pro"/>
              </a:rPr>
              <a:t>👤 Use</a:t>
            </a:r>
            <a:r>
              <a:rPr lang="en-US" sz="3500">
                <a:solidFill>
                  <a:srgbClr val="000000"/>
                </a:solidFill>
                <a:latin typeface="Source Sans Pro"/>
                <a:ea typeface="Source Sans Pro"/>
                <a:cs typeface="Source Sans Pro"/>
                <a:sym typeface="Source Sans Pro"/>
              </a:rPr>
              <a:t>r</a:t>
            </a:r>
          </a:p>
          <a:p>
            <a:pPr algn="l">
              <a:lnSpc>
                <a:spcPts val="4900"/>
              </a:lnSpc>
              <a:spcBef>
                <a:spcPct val="0"/>
              </a:spcBef>
            </a:pPr>
            <a:r>
              <a:rPr lang="en-US" sz="3500">
                <a:solidFill>
                  <a:srgbClr val="000000"/>
                </a:solidFill>
                <a:latin typeface="Source Sans Pro"/>
                <a:ea typeface="Source Sans Pro"/>
                <a:cs typeface="Source Sans Pro"/>
                <a:sym typeface="Source Sans Pro"/>
              </a:rPr>
              <a:t>➡️ Search</a:t>
            </a:r>
          </a:p>
          <a:p>
            <a:pPr algn="l">
              <a:lnSpc>
                <a:spcPts val="4900"/>
              </a:lnSpc>
              <a:spcBef>
                <a:spcPct val="0"/>
              </a:spcBef>
            </a:pPr>
            <a:r>
              <a:rPr lang="en-US" sz="3500">
                <a:solidFill>
                  <a:srgbClr val="000000"/>
                </a:solidFill>
                <a:latin typeface="Source Sans Pro"/>
                <a:ea typeface="Source Sans Pro"/>
                <a:cs typeface="Source Sans Pro"/>
                <a:sym typeface="Source Sans Pro"/>
              </a:rPr>
              <a:t>➡️ HashMap</a:t>
            </a:r>
          </a:p>
          <a:p>
            <a:pPr algn="l">
              <a:lnSpc>
                <a:spcPts val="4900"/>
              </a:lnSpc>
              <a:spcBef>
                <a:spcPct val="0"/>
              </a:spcBef>
            </a:pPr>
            <a:r>
              <a:rPr lang="en-US" sz="3500">
                <a:solidFill>
                  <a:srgbClr val="000000"/>
                </a:solidFill>
                <a:latin typeface="Source Sans Pro"/>
                <a:ea typeface="Source Sans Pro"/>
                <a:cs typeface="Source Sans Pro"/>
                <a:sym typeface="Source Sans Pro"/>
              </a:rPr>
              <a:t>➡️ Binary Search + KMP</a:t>
            </a:r>
          </a:p>
          <a:p>
            <a:pPr algn="l">
              <a:lnSpc>
                <a:spcPts val="4900"/>
              </a:lnSpc>
              <a:spcBef>
                <a:spcPct val="0"/>
              </a:spcBef>
            </a:pPr>
            <a:r>
              <a:rPr lang="en-US" sz="3500">
                <a:solidFill>
                  <a:srgbClr val="000000"/>
                </a:solidFill>
                <a:latin typeface="Source Sans Pro"/>
                <a:ea typeface="Source Sans Pro"/>
                <a:cs typeface="Source Sans Pro"/>
                <a:sym typeface="Source Sans Pro"/>
              </a:rPr>
              <a:t>🎬 Movie Details</a:t>
            </a:r>
          </a:p>
          <a:p>
            <a:pPr algn="l">
              <a:lnSpc>
                <a:spcPts val="49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435982">
            <a:off x="15271065" y="7687506"/>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5400000">
            <a:off x="12641675" y="-2057400"/>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993997"/>
            <a:ext cx="13518960" cy="1250949"/>
          </a:xfrm>
          <a:prstGeom prst="rect">
            <a:avLst/>
          </a:prstGeom>
        </p:spPr>
        <p:txBody>
          <a:bodyPr anchor="t" rtlCol="false" tIns="0" lIns="0" bIns="0" rIns="0">
            <a:spAutoFit/>
          </a:bodyPr>
          <a:lstStyle/>
          <a:p>
            <a:pPr algn="l">
              <a:lnSpc>
                <a:spcPts val="9199"/>
              </a:lnSpc>
            </a:pPr>
            <a:r>
              <a:rPr lang="en-US" sz="9999">
                <a:solidFill>
                  <a:srgbClr val="5E7B97"/>
                </a:solidFill>
                <a:latin typeface="TT Marxiana Antigua"/>
                <a:ea typeface="TT Marxiana Antigua"/>
                <a:cs typeface="TT Marxiana Antigua"/>
                <a:sym typeface="TT Marxiana Antigua"/>
              </a:rPr>
              <a:t>Proposed Functionalities</a:t>
            </a:r>
          </a:p>
        </p:txBody>
      </p:sp>
      <p:grpSp>
        <p:nvGrpSpPr>
          <p:cNvPr name="Group 8" id="8"/>
          <p:cNvGrpSpPr/>
          <p:nvPr/>
        </p:nvGrpSpPr>
        <p:grpSpPr>
          <a:xfrm rot="0">
            <a:off x="1071831" y="8800814"/>
            <a:ext cx="818612" cy="818612"/>
            <a:chOff x="0" y="0"/>
            <a:chExt cx="215602" cy="215602"/>
          </a:xfrm>
        </p:grpSpPr>
        <p:sp>
          <p:nvSpPr>
            <p:cNvPr name="Freeform 9" id="9"/>
            <p:cNvSpPr/>
            <p:nvPr/>
          </p:nvSpPr>
          <p:spPr>
            <a:xfrm flipH="false" flipV="false" rot="0">
              <a:off x="0" y="0"/>
              <a:ext cx="215602" cy="215602"/>
            </a:xfrm>
            <a:custGeom>
              <a:avLst/>
              <a:gdLst/>
              <a:ahLst/>
              <a:cxnLst/>
              <a:rect r="r" b="b" t="t" l="l"/>
              <a:pathLst>
                <a:path h="215602" w="215602">
                  <a:moveTo>
                    <a:pt x="0" y="0"/>
                  </a:moveTo>
                  <a:lnTo>
                    <a:pt x="215602" y="0"/>
                  </a:lnTo>
                  <a:lnTo>
                    <a:pt x="215602" y="215602"/>
                  </a:lnTo>
                  <a:lnTo>
                    <a:pt x="0" y="215602"/>
                  </a:lnTo>
                  <a:close/>
                </a:path>
              </a:pathLst>
            </a:custGeom>
            <a:solidFill>
              <a:srgbClr val="5E7B97"/>
            </a:solidFill>
          </p:spPr>
        </p:sp>
        <p:sp>
          <p:nvSpPr>
            <p:cNvPr name="TextBox 10" id="10"/>
            <p:cNvSpPr txBox="true"/>
            <p:nvPr/>
          </p:nvSpPr>
          <p:spPr>
            <a:xfrm>
              <a:off x="0" y="-38100"/>
              <a:ext cx="215602" cy="25370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8803245"/>
            <a:ext cx="904875" cy="728026"/>
          </a:xfrm>
          <a:prstGeom prst="rect">
            <a:avLst/>
          </a:prstGeom>
        </p:spPr>
        <p:txBody>
          <a:bodyPr anchor="t" rtlCol="false" tIns="0" lIns="0" bIns="0" rIns="0">
            <a:spAutoFit/>
          </a:bodyPr>
          <a:lstStyle/>
          <a:p>
            <a:pPr algn="ctr">
              <a:lnSpc>
                <a:spcPts val="5936"/>
              </a:lnSpc>
            </a:pPr>
            <a:r>
              <a:rPr lang="en-US" sz="4240">
                <a:solidFill>
                  <a:srgbClr val="FFFFFF"/>
                </a:solidFill>
                <a:latin typeface="Source Sans Pro"/>
                <a:ea typeface="Source Sans Pro"/>
                <a:cs typeface="Source Sans Pro"/>
                <a:sym typeface="Source Sans Pro"/>
              </a:rPr>
              <a:t>03</a:t>
            </a:r>
          </a:p>
        </p:txBody>
      </p:sp>
      <p:sp>
        <p:nvSpPr>
          <p:cNvPr name="TextBox 12" id="12"/>
          <p:cNvSpPr txBox="true"/>
          <p:nvPr/>
        </p:nvSpPr>
        <p:spPr>
          <a:xfrm rot="0">
            <a:off x="2316427" y="2956848"/>
            <a:ext cx="13655146" cy="6788057"/>
          </a:xfrm>
          <a:prstGeom prst="rect">
            <a:avLst/>
          </a:prstGeom>
        </p:spPr>
        <p:txBody>
          <a:bodyPr anchor="t" rtlCol="false" tIns="0" lIns="0" bIns="0" rIns="0">
            <a:spAutoFit/>
          </a:bodyPr>
          <a:lstStyle/>
          <a:p>
            <a:pPr algn="just">
              <a:lnSpc>
                <a:spcPts val="4905"/>
              </a:lnSpc>
              <a:spcBef>
                <a:spcPct val="0"/>
              </a:spcBef>
            </a:pPr>
            <a:r>
              <a:rPr lang="en-US" b="true" sz="3503">
                <a:solidFill>
                  <a:srgbClr val="000000"/>
                </a:solidFill>
                <a:latin typeface="Source Sans Pro Bold"/>
                <a:ea typeface="Source Sans Pro Bold"/>
                <a:cs typeface="Source Sans Pro Bold"/>
                <a:sym typeface="Source Sans Pro Bold"/>
              </a:rPr>
              <a:t>Fast M</a:t>
            </a:r>
            <a:r>
              <a:rPr lang="en-US" b="true" sz="3503">
                <a:solidFill>
                  <a:srgbClr val="000000"/>
                </a:solidFill>
                <a:latin typeface="Source Sans Pro Bold"/>
                <a:ea typeface="Source Sans Pro Bold"/>
                <a:cs typeface="Source Sans Pro Bold"/>
                <a:sym typeface="Source Sans Pro Bold"/>
              </a:rPr>
              <a:t>ovie Search :</a:t>
            </a:r>
          </a:p>
          <a:p>
            <a:pPr algn="just">
              <a:lnSpc>
                <a:spcPts val="4905"/>
              </a:lnSpc>
              <a:spcBef>
                <a:spcPct val="0"/>
              </a:spcBef>
            </a:pPr>
            <a:r>
              <a:rPr lang="en-US" sz="3503">
                <a:solidFill>
                  <a:srgbClr val="000000"/>
                </a:solidFill>
                <a:latin typeface="Source Sans Pro"/>
                <a:ea typeface="Source Sans Pro"/>
                <a:cs typeface="Source Sans Pro"/>
                <a:sym typeface="Source Sans Pro"/>
              </a:rPr>
              <a:t>Uses HashMap to quickly retrieve movie records without searching the entire database.</a:t>
            </a:r>
          </a:p>
          <a:p>
            <a:pPr algn="just">
              <a:lnSpc>
                <a:spcPts val="4905"/>
              </a:lnSpc>
              <a:spcBef>
                <a:spcPct val="0"/>
              </a:spcBef>
            </a:pPr>
            <a:r>
              <a:rPr lang="en-US" b="true" sz="3503">
                <a:solidFill>
                  <a:srgbClr val="000000"/>
                </a:solidFill>
                <a:latin typeface="Source Sans Pro Bold"/>
                <a:ea typeface="Source Sans Pro Bold"/>
                <a:cs typeface="Source Sans Pro Bold"/>
                <a:sym typeface="Source Sans Pro Bold"/>
              </a:rPr>
              <a:t>Multi-Parameter Search :</a:t>
            </a:r>
          </a:p>
          <a:p>
            <a:pPr algn="just">
              <a:lnSpc>
                <a:spcPts val="4905"/>
              </a:lnSpc>
              <a:spcBef>
                <a:spcPct val="0"/>
              </a:spcBef>
            </a:pPr>
            <a:r>
              <a:rPr lang="en-US" sz="3503">
                <a:solidFill>
                  <a:srgbClr val="000000"/>
                </a:solidFill>
                <a:latin typeface="Source Sans Pro"/>
                <a:ea typeface="Source Sans Pro"/>
                <a:cs typeface="Source Sans Pro"/>
                <a:sym typeface="Source Sans Pro"/>
              </a:rPr>
              <a:t>Allows users to search movies using title, actor, genre, or keywords.</a:t>
            </a:r>
          </a:p>
          <a:p>
            <a:pPr algn="just">
              <a:lnSpc>
                <a:spcPts val="4905"/>
              </a:lnSpc>
              <a:spcBef>
                <a:spcPct val="0"/>
              </a:spcBef>
            </a:pPr>
            <a:r>
              <a:rPr lang="en-US" b="true" sz="3503">
                <a:solidFill>
                  <a:srgbClr val="000000"/>
                </a:solidFill>
                <a:latin typeface="Source Sans Pro Bold"/>
                <a:ea typeface="Source Sans Pro Bold"/>
                <a:cs typeface="Source Sans Pro Bold"/>
                <a:sym typeface="Source Sans Pro Bold"/>
              </a:rPr>
              <a:t>Efficient Searching :</a:t>
            </a:r>
          </a:p>
          <a:p>
            <a:pPr algn="just">
              <a:lnSpc>
                <a:spcPts val="4905"/>
              </a:lnSpc>
              <a:spcBef>
                <a:spcPct val="0"/>
              </a:spcBef>
            </a:pPr>
            <a:r>
              <a:rPr lang="en-US" sz="3503">
                <a:solidFill>
                  <a:srgbClr val="000000"/>
                </a:solidFill>
                <a:latin typeface="Source Sans Pro"/>
                <a:ea typeface="Source Sans Pro"/>
                <a:cs typeface="Source Sans Pro"/>
                <a:sym typeface="Source Sans Pro"/>
              </a:rPr>
              <a:t>Uses Binary Search to locate movies quickly when records are sorted.</a:t>
            </a:r>
          </a:p>
          <a:p>
            <a:pPr algn="just">
              <a:lnSpc>
                <a:spcPts val="4905"/>
              </a:lnSpc>
              <a:spcBef>
                <a:spcPct val="0"/>
              </a:spcBef>
            </a:pPr>
          </a:p>
          <a:p>
            <a:pPr algn="just">
              <a:lnSpc>
                <a:spcPts val="4905"/>
              </a:lnSpc>
              <a:spcBef>
                <a:spcPct val="0"/>
              </a:spcBef>
            </a:pPr>
          </a:p>
          <a:p>
            <a:pPr algn="just">
              <a:lnSpc>
                <a:spcPts val="4905"/>
              </a:lnSpc>
              <a:spcBef>
                <a:spcPct val="0"/>
              </a:spcBef>
            </a:pPr>
          </a:p>
          <a:p>
            <a:pPr algn="ctr">
              <a:lnSpc>
                <a:spcPts val="490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435982">
            <a:off x="14459420" y="6831570"/>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1071831" y="8800814"/>
            <a:ext cx="818612" cy="818612"/>
            <a:chOff x="0" y="0"/>
            <a:chExt cx="215602" cy="215602"/>
          </a:xfrm>
        </p:grpSpPr>
        <p:sp>
          <p:nvSpPr>
            <p:cNvPr name="Freeform 8" id="8"/>
            <p:cNvSpPr/>
            <p:nvPr/>
          </p:nvSpPr>
          <p:spPr>
            <a:xfrm flipH="false" flipV="false" rot="0">
              <a:off x="0" y="0"/>
              <a:ext cx="215602" cy="215602"/>
            </a:xfrm>
            <a:custGeom>
              <a:avLst/>
              <a:gdLst/>
              <a:ahLst/>
              <a:cxnLst/>
              <a:rect r="r" b="b" t="t" l="l"/>
              <a:pathLst>
                <a:path h="215602" w="215602">
                  <a:moveTo>
                    <a:pt x="0" y="0"/>
                  </a:moveTo>
                  <a:lnTo>
                    <a:pt x="215602" y="0"/>
                  </a:lnTo>
                  <a:lnTo>
                    <a:pt x="215602" y="215602"/>
                  </a:lnTo>
                  <a:lnTo>
                    <a:pt x="0" y="215602"/>
                  </a:lnTo>
                  <a:close/>
                </a:path>
              </a:pathLst>
            </a:custGeom>
            <a:solidFill>
              <a:srgbClr val="5E7B97"/>
            </a:solidFill>
          </p:spPr>
        </p:sp>
        <p:sp>
          <p:nvSpPr>
            <p:cNvPr name="TextBox 9" id="9"/>
            <p:cNvSpPr txBox="true"/>
            <p:nvPr/>
          </p:nvSpPr>
          <p:spPr>
            <a:xfrm>
              <a:off x="0" y="-38100"/>
              <a:ext cx="215602" cy="25370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8803245"/>
            <a:ext cx="904875" cy="728026"/>
          </a:xfrm>
          <a:prstGeom prst="rect">
            <a:avLst/>
          </a:prstGeom>
        </p:spPr>
        <p:txBody>
          <a:bodyPr anchor="t" rtlCol="false" tIns="0" lIns="0" bIns="0" rIns="0">
            <a:spAutoFit/>
          </a:bodyPr>
          <a:lstStyle/>
          <a:p>
            <a:pPr algn="ctr">
              <a:lnSpc>
                <a:spcPts val="5936"/>
              </a:lnSpc>
            </a:pPr>
            <a:r>
              <a:rPr lang="en-US" sz="4240">
                <a:solidFill>
                  <a:srgbClr val="FFFFFF"/>
                </a:solidFill>
                <a:latin typeface="Source Sans Pro"/>
                <a:ea typeface="Source Sans Pro"/>
                <a:cs typeface="Source Sans Pro"/>
                <a:sym typeface="Source Sans Pro"/>
              </a:rPr>
              <a:t>04</a:t>
            </a:r>
          </a:p>
        </p:txBody>
      </p:sp>
      <p:sp>
        <p:nvSpPr>
          <p:cNvPr name="TextBox 11" id="11"/>
          <p:cNvSpPr txBox="true"/>
          <p:nvPr/>
        </p:nvSpPr>
        <p:spPr>
          <a:xfrm rot="0">
            <a:off x="2168686" y="2340289"/>
            <a:ext cx="13950628" cy="5530221"/>
          </a:xfrm>
          <a:prstGeom prst="rect">
            <a:avLst/>
          </a:prstGeom>
        </p:spPr>
        <p:txBody>
          <a:bodyPr anchor="t" rtlCol="false" tIns="0" lIns="0" bIns="0" rIns="0">
            <a:spAutoFit/>
          </a:bodyPr>
          <a:lstStyle/>
          <a:p>
            <a:pPr algn="just">
              <a:lnSpc>
                <a:spcPts val="4964"/>
              </a:lnSpc>
              <a:spcBef>
                <a:spcPct val="0"/>
              </a:spcBef>
            </a:pPr>
            <a:r>
              <a:rPr lang="en-US" b="true" sz="3546">
                <a:solidFill>
                  <a:srgbClr val="000000"/>
                </a:solidFill>
                <a:latin typeface="Source Sans Pro Bold"/>
                <a:ea typeface="Source Sans Pro Bold"/>
                <a:cs typeface="Source Sans Pro Bold"/>
                <a:sym typeface="Source Sans Pro Bold"/>
              </a:rPr>
              <a:t>Movie Sorting :</a:t>
            </a:r>
          </a:p>
          <a:p>
            <a:pPr algn="just">
              <a:lnSpc>
                <a:spcPts val="4638"/>
              </a:lnSpc>
              <a:spcBef>
                <a:spcPct val="0"/>
              </a:spcBef>
            </a:pPr>
            <a:r>
              <a:rPr lang="en-US" sz="3313">
                <a:solidFill>
                  <a:srgbClr val="000000"/>
                </a:solidFill>
                <a:latin typeface="Source Sans Pro"/>
                <a:ea typeface="Source Sans Pro"/>
                <a:cs typeface="Source Sans Pro"/>
                <a:sym typeface="Source Sans Pro"/>
              </a:rPr>
              <a:t>Uses Merge Sort to organise movie records alphabetically or by rating</a:t>
            </a:r>
            <a:r>
              <a:rPr lang="en-US" sz="3313">
                <a:solidFill>
                  <a:srgbClr val="000000"/>
                </a:solidFill>
                <a:latin typeface="Source Sans Pro"/>
                <a:ea typeface="Source Sans Pro"/>
                <a:cs typeface="Source Sans Pro"/>
                <a:sym typeface="Source Sans Pro"/>
              </a:rPr>
              <a:t>.</a:t>
            </a:r>
          </a:p>
          <a:p>
            <a:pPr algn="just">
              <a:lnSpc>
                <a:spcPts val="4964"/>
              </a:lnSpc>
              <a:spcBef>
                <a:spcPct val="0"/>
              </a:spcBef>
            </a:pPr>
            <a:r>
              <a:rPr lang="en-US" b="true" sz="3546">
                <a:solidFill>
                  <a:srgbClr val="000000"/>
                </a:solidFill>
                <a:latin typeface="Source Sans Pro Bold"/>
                <a:ea typeface="Source Sans Pro Bold"/>
                <a:cs typeface="Source Sans Pro Bold"/>
                <a:sym typeface="Source Sans Pro Bold"/>
              </a:rPr>
              <a:t>Keyword Search :</a:t>
            </a:r>
          </a:p>
          <a:p>
            <a:pPr algn="just">
              <a:lnSpc>
                <a:spcPts val="4964"/>
              </a:lnSpc>
              <a:spcBef>
                <a:spcPct val="0"/>
              </a:spcBef>
            </a:pPr>
            <a:r>
              <a:rPr lang="en-US" sz="3546">
                <a:solidFill>
                  <a:srgbClr val="000000"/>
                </a:solidFill>
                <a:latin typeface="Source Sans Pro"/>
                <a:ea typeface="Source Sans Pro"/>
                <a:cs typeface="Source Sans Pro"/>
                <a:sym typeface="Source Sans Pro"/>
              </a:rPr>
              <a:t>Uses the KMP (Knuth–Morris–Pratt) Algorithm to efficiently search keywords within movie titles and descriptions.</a:t>
            </a:r>
          </a:p>
          <a:p>
            <a:pPr algn="just">
              <a:lnSpc>
                <a:spcPts val="4964"/>
              </a:lnSpc>
              <a:spcBef>
                <a:spcPct val="0"/>
              </a:spcBef>
            </a:pPr>
            <a:r>
              <a:rPr lang="en-US" b="true" sz="3546">
                <a:solidFill>
                  <a:srgbClr val="000000"/>
                </a:solidFill>
                <a:latin typeface="Source Sans Pro Bold"/>
                <a:ea typeface="Source Sans Pro Bold"/>
                <a:cs typeface="Source Sans Pro Bold"/>
                <a:sym typeface="Source Sans Pro Bold"/>
              </a:rPr>
              <a:t>Simple User Interface :</a:t>
            </a:r>
          </a:p>
          <a:p>
            <a:pPr algn="just">
              <a:lnSpc>
                <a:spcPts val="4964"/>
              </a:lnSpc>
              <a:spcBef>
                <a:spcPct val="0"/>
              </a:spcBef>
            </a:pPr>
            <a:r>
              <a:rPr lang="en-US" sz="3546">
                <a:solidFill>
                  <a:srgbClr val="000000"/>
                </a:solidFill>
                <a:latin typeface="Source Sans Pro"/>
                <a:ea typeface="Source Sans Pro"/>
                <a:cs typeface="Source Sans Pro"/>
                <a:sym typeface="Source Sans Pro"/>
              </a:rPr>
              <a:t>Provides an easy-to-use interface where users can search movies and view complete movie details clearly</a:t>
            </a:r>
            <a:r>
              <a:rPr lang="en-US" sz="3546">
                <a:solidFill>
                  <a:srgbClr val="000000"/>
                </a:solidFill>
                <a:latin typeface="Source Sans Pro"/>
                <a:ea typeface="Source Sans Pro"/>
                <a:cs typeface="Source Sans Pro"/>
                <a:sym typeface="Source Sans Pro"/>
              </a:rPr>
              <a:t>.</a:t>
            </a:r>
          </a:p>
          <a:p>
            <a:pPr algn="just">
              <a:lnSpc>
                <a:spcPts val="4964"/>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435982">
            <a:off x="14459420" y="6831570"/>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1071831" y="8800814"/>
            <a:ext cx="818612" cy="818612"/>
            <a:chOff x="0" y="0"/>
            <a:chExt cx="215602" cy="215602"/>
          </a:xfrm>
        </p:grpSpPr>
        <p:sp>
          <p:nvSpPr>
            <p:cNvPr name="Freeform 8" id="8"/>
            <p:cNvSpPr/>
            <p:nvPr/>
          </p:nvSpPr>
          <p:spPr>
            <a:xfrm flipH="false" flipV="false" rot="0">
              <a:off x="0" y="0"/>
              <a:ext cx="215602" cy="215602"/>
            </a:xfrm>
            <a:custGeom>
              <a:avLst/>
              <a:gdLst/>
              <a:ahLst/>
              <a:cxnLst/>
              <a:rect r="r" b="b" t="t" l="l"/>
              <a:pathLst>
                <a:path h="215602" w="215602">
                  <a:moveTo>
                    <a:pt x="0" y="0"/>
                  </a:moveTo>
                  <a:lnTo>
                    <a:pt x="215602" y="0"/>
                  </a:lnTo>
                  <a:lnTo>
                    <a:pt x="215602" y="215602"/>
                  </a:lnTo>
                  <a:lnTo>
                    <a:pt x="0" y="215602"/>
                  </a:lnTo>
                  <a:close/>
                </a:path>
              </a:pathLst>
            </a:custGeom>
            <a:solidFill>
              <a:srgbClr val="5E7B97"/>
            </a:solidFill>
          </p:spPr>
        </p:sp>
        <p:sp>
          <p:nvSpPr>
            <p:cNvPr name="TextBox 9" id="9"/>
            <p:cNvSpPr txBox="true"/>
            <p:nvPr/>
          </p:nvSpPr>
          <p:spPr>
            <a:xfrm>
              <a:off x="0" y="-38100"/>
              <a:ext cx="215602" cy="25370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1238250"/>
            <a:ext cx="10572481" cy="1941831"/>
          </a:xfrm>
          <a:prstGeom prst="rect">
            <a:avLst/>
          </a:prstGeom>
        </p:spPr>
        <p:txBody>
          <a:bodyPr anchor="t" rtlCol="false" tIns="0" lIns="0" bIns="0" rIns="0">
            <a:spAutoFit/>
          </a:bodyPr>
          <a:lstStyle/>
          <a:p>
            <a:pPr algn="l">
              <a:lnSpc>
                <a:spcPts val="7360"/>
              </a:lnSpc>
            </a:pPr>
            <a:r>
              <a:rPr lang="en-US" sz="8000">
                <a:solidFill>
                  <a:srgbClr val="5E7B97"/>
                </a:solidFill>
                <a:latin typeface="TT Marxiana Antigua"/>
                <a:ea typeface="TT Marxiana Antigua"/>
                <a:cs typeface="TT Marxiana Antigua"/>
                <a:sym typeface="TT Marxiana Antigua"/>
              </a:rPr>
              <a:t>⁠To</a:t>
            </a:r>
            <a:r>
              <a:rPr lang="en-US" sz="8000">
                <a:solidFill>
                  <a:srgbClr val="5E7B97"/>
                </a:solidFill>
                <a:latin typeface="TT Marxiana Antigua"/>
                <a:ea typeface="TT Marxiana Antigua"/>
                <a:cs typeface="TT Marxiana Antigua"/>
                <a:sym typeface="TT Marxiana Antigua"/>
              </a:rPr>
              <a:t>ols to be used :</a:t>
            </a:r>
          </a:p>
          <a:p>
            <a:pPr algn="l">
              <a:lnSpc>
                <a:spcPts val="7360"/>
              </a:lnSpc>
            </a:pPr>
          </a:p>
        </p:txBody>
      </p:sp>
      <p:sp>
        <p:nvSpPr>
          <p:cNvPr name="TextBox 11" id="11"/>
          <p:cNvSpPr txBox="true"/>
          <p:nvPr/>
        </p:nvSpPr>
        <p:spPr>
          <a:xfrm rot="0">
            <a:off x="1028700" y="8803245"/>
            <a:ext cx="904875" cy="728026"/>
          </a:xfrm>
          <a:prstGeom prst="rect">
            <a:avLst/>
          </a:prstGeom>
        </p:spPr>
        <p:txBody>
          <a:bodyPr anchor="t" rtlCol="false" tIns="0" lIns="0" bIns="0" rIns="0">
            <a:spAutoFit/>
          </a:bodyPr>
          <a:lstStyle/>
          <a:p>
            <a:pPr algn="ctr">
              <a:lnSpc>
                <a:spcPts val="5936"/>
              </a:lnSpc>
            </a:pPr>
            <a:r>
              <a:rPr lang="en-US" sz="4240">
                <a:solidFill>
                  <a:srgbClr val="FFFFFF"/>
                </a:solidFill>
                <a:latin typeface="Source Sans Pro"/>
                <a:ea typeface="Source Sans Pro"/>
                <a:cs typeface="Source Sans Pro"/>
                <a:sym typeface="Source Sans Pro"/>
              </a:rPr>
              <a:t>05</a:t>
            </a:r>
          </a:p>
        </p:txBody>
      </p:sp>
      <p:sp>
        <p:nvSpPr>
          <p:cNvPr name="TextBox 12" id="12"/>
          <p:cNvSpPr txBox="true"/>
          <p:nvPr/>
        </p:nvSpPr>
        <p:spPr>
          <a:xfrm rot="0">
            <a:off x="1671668" y="2495550"/>
            <a:ext cx="9109003" cy="2647950"/>
          </a:xfrm>
          <a:prstGeom prst="rect">
            <a:avLst/>
          </a:prstGeom>
        </p:spPr>
        <p:txBody>
          <a:bodyPr anchor="t" rtlCol="false" tIns="0" lIns="0" bIns="0" rIns="0">
            <a:spAutoFit/>
          </a:bodyPr>
          <a:lstStyle/>
          <a:p>
            <a:pPr algn="just" marL="647700" indent="-323850" lvl="1">
              <a:lnSpc>
                <a:spcPts val="4200"/>
              </a:lnSpc>
              <a:spcBef>
                <a:spcPct val="0"/>
              </a:spcBef>
              <a:buFont typeface="Arial"/>
              <a:buChar char="•"/>
            </a:pPr>
            <a:r>
              <a:rPr lang="en-US" sz="3000">
                <a:solidFill>
                  <a:srgbClr val="000000"/>
                </a:solidFill>
                <a:latin typeface="Source Sans Pro"/>
                <a:ea typeface="Source Sans Pro"/>
                <a:cs typeface="Source Sans Pro"/>
                <a:sym typeface="Source Sans Pro"/>
              </a:rPr>
              <a:t>Pr</a:t>
            </a:r>
            <a:r>
              <a:rPr lang="en-US" sz="3000">
                <a:solidFill>
                  <a:srgbClr val="000000"/>
                </a:solidFill>
                <a:latin typeface="Source Sans Pro"/>
                <a:ea typeface="Source Sans Pro"/>
                <a:cs typeface="Source Sans Pro"/>
                <a:sym typeface="Source Sans Pro"/>
              </a:rPr>
              <a:t>ogramming Language: Java</a:t>
            </a:r>
          </a:p>
          <a:p>
            <a:pPr algn="just" marL="647700" indent="-323850" lvl="1">
              <a:lnSpc>
                <a:spcPts val="4200"/>
              </a:lnSpc>
              <a:spcBef>
                <a:spcPct val="0"/>
              </a:spcBef>
              <a:buFont typeface="Arial"/>
              <a:buChar char="•"/>
            </a:pPr>
            <a:r>
              <a:rPr lang="en-US" sz="3000">
                <a:solidFill>
                  <a:srgbClr val="000000"/>
                </a:solidFill>
                <a:latin typeface="Source Sans Pro"/>
                <a:ea typeface="Source Sans Pro"/>
                <a:cs typeface="Source Sans Pro"/>
                <a:sym typeface="Source Sans Pro"/>
              </a:rPr>
              <a:t>Development Environment (IDE): Visual Studio Code</a:t>
            </a:r>
          </a:p>
          <a:p>
            <a:pPr algn="just" marL="647700" indent="-323850" lvl="1">
              <a:lnSpc>
                <a:spcPts val="4200"/>
              </a:lnSpc>
              <a:spcBef>
                <a:spcPct val="0"/>
              </a:spcBef>
              <a:buFont typeface="Arial"/>
              <a:buChar char="•"/>
            </a:pPr>
            <a:r>
              <a:rPr lang="en-US" sz="3000">
                <a:solidFill>
                  <a:srgbClr val="000000"/>
                </a:solidFill>
                <a:latin typeface="Source Sans Pro"/>
                <a:ea typeface="Source Sans Pro"/>
                <a:cs typeface="Source Sans Pro"/>
                <a:sym typeface="Source Sans Pro"/>
              </a:rPr>
              <a:t>Database: CSV/Text File</a:t>
            </a:r>
          </a:p>
          <a:p>
            <a:pPr algn="just" marL="647700" indent="-323850" lvl="1">
              <a:lnSpc>
                <a:spcPts val="4200"/>
              </a:lnSpc>
              <a:spcBef>
                <a:spcPct val="0"/>
              </a:spcBef>
              <a:buFont typeface="Arial"/>
              <a:buChar char="•"/>
            </a:pPr>
            <a:r>
              <a:rPr lang="en-US" sz="3000">
                <a:solidFill>
                  <a:srgbClr val="000000"/>
                </a:solidFill>
                <a:latin typeface="Source Sans Pro"/>
                <a:ea typeface="Source Sans Pro"/>
                <a:cs typeface="Source Sans Pro"/>
                <a:sym typeface="Source Sans Pro"/>
              </a:rPr>
              <a:t>Version Control: GitHub</a:t>
            </a:r>
          </a:p>
          <a:p>
            <a:pPr algn="just">
              <a:lnSpc>
                <a:spcPts val="4200"/>
              </a:lnSpc>
              <a:spcBef>
                <a:spcPct val="0"/>
              </a:spcBef>
            </a:pPr>
          </a:p>
        </p:txBody>
      </p:sp>
      <p:sp>
        <p:nvSpPr>
          <p:cNvPr name="TextBox 13" id="13"/>
          <p:cNvSpPr txBox="true"/>
          <p:nvPr/>
        </p:nvSpPr>
        <p:spPr>
          <a:xfrm rot="0">
            <a:off x="2245198" y="6515208"/>
            <a:ext cx="10335971" cy="3181350"/>
          </a:xfrm>
          <a:prstGeom prst="rect">
            <a:avLst/>
          </a:prstGeom>
        </p:spPr>
        <p:txBody>
          <a:bodyPr anchor="t" rtlCol="false" tIns="0" lIns="0" bIns="0" rIns="0">
            <a:spAutoFit/>
          </a:bodyPr>
          <a:lstStyle/>
          <a:p>
            <a:pPr algn="just">
              <a:lnSpc>
                <a:spcPts val="4200"/>
              </a:lnSpc>
              <a:spcBef>
                <a:spcPct val="0"/>
              </a:spcBef>
            </a:pPr>
            <a:r>
              <a:rPr lang="en-US" b="true" sz="3000">
                <a:solidFill>
                  <a:srgbClr val="000000"/>
                </a:solidFill>
                <a:latin typeface="Source Sans Pro Bold"/>
                <a:ea typeface="Source Sans Pro Bold"/>
                <a:cs typeface="Source Sans Pro Bold"/>
                <a:sym typeface="Source Sans Pro Bold"/>
              </a:rPr>
              <a:t>Data Struct</a:t>
            </a:r>
            <a:r>
              <a:rPr lang="en-US" b="true" sz="3000">
                <a:solidFill>
                  <a:srgbClr val="000000"/>
                </a:solidFill>
                <a:latin typeface="Source Sans Pro Bold"/>
                <a:ea typeface="Source Sans Pro Bold"/>
                <a:cs typeface="Source Sans Pro Bold"/>
                <a:sym typeface="Source Sans Pro Bold"/>
              </a:rPr>
              <a:t>ures:</a:t>
            </a:r>
            <a:r>
              <a:rPr lang="en-US" sz="3000">
                <a:solidFill>
                  <a:srgbClr val="000000"/>
                </a:solidFill>
                <a:latin typeface="Source Sans Pro"/>
                <a:ea typeface="Source Sans Pro"/>
                <a:cs typeface="Source Sans Pro"/>
                <a:sym typeface="Source Sans Pro"/>
              </a:rPr>
              <a:t> HashMap, Arrays</a:t>
            </a:r>
          </a:p>
          <a:p>
            <a:pPr algn="just">
              <a:lnSpc>
                <a:spcPts val="4200"/>
              </a:lnSpc>
              <a:spcBef>
                <a:spcPct val="0"/>
              </a:spcBef>
            </a:pPr>
            <a:r>
              <a:rPr lang="en-US" b="true" sz="3000">
                <a:solidFill>
                  <a:srgbClr val="000000"/>
                </a:solidFill>
                <a:latin typeface="Source Sans Pro Bold"/>
                <a:ea typeface="Source Sans Pro Bold"/>
                <a:cs typeface="Source Sans Pro Bold"/>
                <a:sym typeface="Source Sans Pro Bold"/>
              </a:rPr>
              <a:t>Algorithms: </a:t>
            </a:r>
            <a:r>
              <a:rPr lang="en-US" sz="3000">
                <a:solidFill>
                  <a:srgbClr val="000000"/>
                </a:solidFill>
                <a:latin typeface="Source Sans Pro"/>
                <a:ea typeface="Source Sans Pro"/>
                <a:cs typeface="Source Sans Pro"/>
                <a:sym typeface="Source Sans Pro"/>
              </a:rPr>
              <a:t>Binary Search, Merge Sort, KMP Pattern Matching</a:t>
            </a:r>
          </a:p>
          <a:p>
            <a:pPr algn="just">
              <a:lnSpc>
                <a:spcPts val="4200"/>
              </a:lnSpc>
              <a:spcBef>
                <a:spcPct val="0"/>
              </a:spcBef>
            </a:pPr>
            <a:r>
              <a:rPr lang="en-US" b="true" sz="3000">
                <a:solidFill>
                  <a:srgbClr val="000000"/>
                </a:solidFill>
                <a:latin typeface="Source Sans Pro Bold"/>
                <a:ea typeface="Source Sans Pro Bold"/>
                <a:cs typeface="Source Sans Pro Bold"/>
                <a:sym typeface="Source Sans Pro Bold"/>
              </a:rPr>
              <a:t>Operating System:</a:t>
            </a:r>
            <a:r>
              <a:rPr lang="en-US" sz="3000">
                <a:solidFill>
                  <a:srgbClr val="000000"/>
                </a:solidFill>
                <a:latin typeface="Source Sans Pro"/>
                <a:ea typeface="Source Sans Pro"/>
                <a:cs typeface="Source Sans Pro"/>
                <a:sym typeface="Source Sans Pro"/>
              </a:rPr>
              <a:t> Windows / macOS</a:t>
            </a:r>
          </a:p>
          <a:p>
            <a:pPr algn="just">
              <a:lnSpc>
                <a:spcPts val="4200"/>
              </a:lnSpc>
              <a:spcBef>
                <a:spcPct val="0"/>
              </a:spcBef>
            </a:pPr>
          </a:p>
          <a:p>
            <a:pPr algn="just">
              <a:lnSpc>
                <a:spcPts val="4200"/>
              </a:lnSpc>
              <a:spcBef>
                <a:spcPct val="0"/>
              </a:spcBef>
            </a:pPr>
          </a:p>
          <a:p>
            <a:pPr algn="just">
              <a:lnSpc>
                <a:spcPts val="4200"/>
              </a:lnSpc>
              <a:spcBef>
                <a:spcPct val="0"/>
              </a:spcBef>
            </a:pPr>
          </a:p>
        </p:txBody>
      </p:sp>
      <p:sp>
        <p:nvSpPr>
          <p:cNvPr name="TextBox 14" id="14"/>
          <p:cNvSpPr txBox="true"/>
          <p:nvPr/>
        </p:nvSpPr>
        <p:spPr>
          <a:xfrm rot="0">
            <a:off x="1071831" y="4806971"/>
            <a:ext cx="10857016" cy="1377949"/>
          </a:xfrm>
          <a:prstGeom prst="rect">
            <a:avLst/>
          </a:prstGeom>
        </p:spPr>
        <p:txBody>
          <a:bodyPr anchor="t" rtlCol="false" tIns="0" lIns="0" bIns="0" rIns="0">
            <a:spAutoFit/>
          </a:bodyPr>
          <a:lstStyle/>
          <a:p>
            <a:pPr algn="ctr">
              <a:lnSpc>
                <a:spcPts val="11200"/>
              </a:lnSpc>
              <a:spcBef>
                <a:spcPct val="0"/>
              </a:spcBef>
            </a:pPr>
            <a:r>
              <a:rPr lang="en-US" sz="8000">
                <a:solidFill>
                  <a:srgbClr val="5E7B97"/>
                </a:solidFill>
                <a:latin typeface="TT Marxiana Antigua"/>
                <a:ea typeface="TT Marxiana Antigua"/>
                <a:cs typeface="TT Marxiana Antigua"/>
                <a:sym typeface="TT Marxiana Antigua"/>
              </a:rPr>
              <a:t>Technologies to be used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435982">
            <a:off x="15271065" y="7562026"/>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71831" y="1314450"/>
            <a:ext cx="11158469" cy="2513827"/>
          </a:xfrm>
          <a:prstGeom prst="rect">
            <a:avLst/>
          </a:prstGeom>
        </p:spPr>
        <p:txBody>
          <a:bodyPr anchor="t" rtlCol="false" tIns="0" lIns="0" bIns="0" rIns="0">
            <a:spAutoFit/>
          </a:bodyPr>
          <a:lstStyle/>
          <a:p>
            <a:pPr algn="l">
              <a:lnSpc>
                <a:spcPts val="9981"/>
              </a:lnSpc>
            </a:pPr>
            <a:r>
              <a:rPr lang="en-US" sz="10849">
                <a:solidFill>
                  <a:srgbClr val="5E7B97"/>
                </a:solidFill>
                <a:latin typeface="TT Marxiana Antigua"/>
                <a:ea typeface="TT Marxiana Antigua"/>
                <a:cs typeface="TT Marxiana Antigua"/>
                <a:sym typeface="TT Marxiana Antigua"/>
              </a:rPr>
              <a:t>Project Outcome</a:t>
            </a:r>
          </a:p>
          <a:p>
            <a:pPr algn="l">
              <a:lnSpc>
                <a:spcPts val="9199"/>
              </a:lnSpc>
            </a:pPr>
          </a:p>
        </p:txBody>
      </p:sp>
      <p:grpSp>
        <p:nvGrpSpPr>
          <p:cNvPr name="Group 8" id="8"/>
          <p:cNvGrpSpPr/>
          <p:nvPr/>
        </p:nvGrpSpPr>
        <p:grpSpPr>
          <a:xfrm rot="0">
            <a:off x="1071831" y="8800814"/>
            <a:ext cx="818612" cy="818612"/>
            <a:chOff x="0" y="0"/>
            <a:chExt cx="215602" cy="215602"/>
          </a:xfrm>
        </p:grpSpPr>
        <p:sp>
          <p:nvSpPr>
            <p:cNvPr name="Freeform 9" id="9"/>
            <p:cNvSpPr/>
            <p:nvPr/>
          </p:nvSpPr>
          <p:spPr>
            <a:xfrm flipH="false" flipV="false" rot="0">
              <a:off x="0" y="0"/>
              <a:ext cx="215602" cy="215602"/>
            </a:xfrm>
            <a:custGeom>
              <a:avLst/>
              <a:gdLst/>
              <a:ahLst/>
              <a:cxnLst/>
              <a:rect r="r" b="b" t="t" l="l"/>
              <a:pathLst>
                <a:path h="215602" w="215602">
                  <a:moveTo>
                    <a:pt x="0" y="0"/>
                  </a:moveTo>
                  <a:lnTo>
                    <a:pt x="215602" y="0"/>
                  </a:lnTo>
                  <a:lnTo>
                    <a:pt x="215602" y="215602"/>
                  </a:lnTo>
                  <a:lnTo>
                    <a:pt x="0" y="215602"/>
                  </a:lnTo>
                  <a:close/>
                </a:path>
              </a:pathLst>
            </a:custGeom>
            <a:solidFill>
              <a:srgbClr val="5E7B97"/>
            </a:solidFill>
          </p:spPr>
        </p:sp>
        <p:sp>
          <p:nvSpPr>
            <p:cNvPr name="TextBox 10" id="10"/>
            <p:cNvSpPr txBox="true"/>
            <p:nvPr/>
          </p:nvSpPr>
          <p:spPr>
            <a:xfrm>
              <a:off x="0" y="-38100"/>
              <a:ext cx="215602" cy="25370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8803245"/>
            <a:ext cx="904875" cy="728026"/>
          </a:xfrm>
          <a:prstGeom prst="rect">
            <a:avLst/>
          </a:prstGeom>
        </p:spPr>
        <p:txBody>
          <a:bodyPr anchor="t" rtlCol="false" tIns="0" lIns="0" bIns="0" rIns="0">
            <a:spAutoFit/>
          </a:bodyPr>
          <a:lstStyle/>
          <a:p>
            <a:pPr algn="ctr">
              <a:lnSpc>
                <a:spcPts val="5936"/>
              </a:lnSpc>
            </a:pPr>
            <a:r>
              <a:rPr lang="en-US" sz="4240">
                <a:solidFill>
                  <a:srgbClr val="FFFFFF"/>
                </a:solidFill>
                <a:latin typeface="Source Sans Pro"/>
                <a:ea typeface="Source Sans Pro"/>
                <a:cs typeface="Source Sans Pro"/>
                <a:sym typeface="Source Sans Pro"/>
              </a:rPr>
              <a:t>06</a:t>
            </a:r>
          </a:p>
        </p:txBody>
      </p:sp>
      <p:sp>
        <p:nvSpPr>
          <p:cNvPr name="TextBox 12" id="12"/>
          <p:cNvSpPr txBox="true"/>
          <p:nvPr/>
        </p:nvSpPr>
        <p:spPr>
          <a:xfrm rot="0">
            <a:off x="3394361" y="3138747"/>
            <a:ext cx="11499279" cy="4289547"/>
          </a:xfrm>
          <a:prstGeom prst="rect">
            <a:avLst/>
          </a:prstGeom>
        </p:spPr>
        <p:txBody>
          <a:bodyPr anchor="t" rtlCol="false" tIns="0" lIns="0" bIns="0" rIns="0">
            <a:spAutoFit/>
          </a:bodyPr>
          <a:lstStyle/>
          <a:p>
            <a:pPr algn="just">
              <a:lnSpc>
                <a:spcPts val="5936"/>
              </a:lnSpc>
              <a:spcBef>
                <a:spcPct val="0"/>
              </a:spcBef>
            </a:pPr>
            <a:r>
              <a:rPr lang="en-US" sz="4240">
                <a:solidFill>
                  <a:srgbClr val="000000"/>
                </a:solidFill>
                <a:latin typeface="Source Sans Pro"/>
                <a:ea typeface="Source Sans Pro"/>
                <a:cs typeface="Source Sans Pro"/>
                <a:sym typeface="Source Sans Pro"/>
              </a:rPr>
              <a:t>Project Outc</a:t>
            </a:r>
            <a:r>
              <a:rPr lang="en-US" sz="4240">
                <a:solidFill>
                  <a:srgbClr val="000000"/>
                </a:solidFill>
                <a:latin typeface="Source Sans Pro"/>
                <a:ea typeface="Source Sans Pro"/>
                <a:cs typeface="Source Sans Pro"/>
                <a:sym typeface="Source Sans Pro"/>
              </a:rPr>
              <a:t>ome</a:t>
            </a:r>
          </a:p>
          <a:p>
            <a:pPr algn="just">
              <a:lnSpc>
                <a:spcPts val="5936"/>
              </a:lnSpc>
              <a:spcBef>
                <a:spcPct val="0"/>
              </a:spcBef>
            </a:pPr>
            <a:r>
              <a:rPr lang="en-US" sz="4240">
                <a:solidFill>
                  <a:srgbClr val="000000"/>
                </a:solidFill>
                <a:latin typeface="Source Sans Pro"/>
                <a:ea typeface="Source Sans Pro"/>
                <a:cs typeface="Source Sans Pro"/>
                <a:sym typeface="Source Sans Pro"/>
              </a:rPr>
              <a:t>        • Fast movie search</a:t>
            </a:r>
          </a:p>
          <a:p>
            <a:pPr algn="just">
              <a:lnSpc>
                <a:spcPts val="5936"/>
              </a:lnSpc>
              <a:spcBef>
                <a:spcPct val="0"/>
              </a:spcBef>
            </a:pPr>
            <a:r>
              <a:rPr lang="en-US" sz="4240">
                <a:solidFill>
                  <a:srgbClr val="000000"/>
                </a:solidFill>
                <a:latin typeface="Source Sans Pro"/>
                <a:ea typeface="Source Sans Pro"/>
                <a:cs typeface="Source Sans Pro"/>
                <a:sym typeface="Source Sans Pro"/>
              </a:rPr>
              <a:t>        • Accurate search results</a:t>
            </a:r>
          </a:p>
          <a:p>
            <a:pPr algn="just">
              <a:lnSpc>
                <a:spcPts val="5936"/>
              </a:lnSpc>
              <a:spcBef>
                <a:spcPct val="0"/>
              </a:spcBef>
            </a:pPr>
            <a:r>
              <a:rPr lang="en-US" sz="4240">
                <a:solidFill>
                  <a:srgbClr val="000000"/>
                </a:solidFill>
                <a:latin typeface="Source Sans Pro"/>
                <a:ea typeface="Source Sans Pro"/>
                <a:cs typeface="Source Sans Pro"/>
                <a:sym typeface="Source Sans Pro"/>
              </a:rPr>
              <a:t>        • Better organisation of movie records</a:t>
            </a:r>
          </a:p>
          <a:p>
            <a:pPr algn="just">
              <a:lnSpc>
                <a:spcPts val="5936"/>
              </a:lnSpc>
              <a:spcBef>
                <a:spcPct val="0"/>
              </a:spcBef>
            </a:pPr>
            <a:r>
              <a:rPr lang="en-US" sz="4240">
                <a:solidFill>
                  <a:srgbClr val="000000"/>
                </a:solidFill>
                <a:latin typeface="Source Sans Pro"/>
                <a:ea typeface="Source Sans Pro"/>
                <a:cs typeface="Source Sans Pro"/>
                <a:sym typeface="Source Sans Pro"/>
              </a:rPr>
              <a:t>        • Efficient implementation using DSA</a:t>
            </a:r>
          </a:p>
          <a:p>
            <a:pPr algn="just">
              <a:lnSpc>
                <a:spcPts val="42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6EC"/>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74190" y="-918582"/>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5606" y="2803493"/>
            <a:ext cx="1645692" cy="1642700"/>
          </a:xfrm>
          <a:custGeom>
            <a:avLst/>
            <a:gdLst/>
            <a:ahLst/>
            <a:cxnLst/>
            <a:rect r="r" b="b" t="t" l="l"/>
            <a:pathLst>
              <a:path h="1642700" w="1645692">
                <a:moveTo>
                  <a:pt x="0" y="0"/>
                </a:moveTo>
                <a:lnTo>
                  <a:pt x="1645692" y="0"/>
                </a:lnTo>
                <a:lnTo>
                  <a:pt x="1645692"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5982">
            <a:off x="14459420" y="6831570"/>
            <a:ext cx="4360053" cy="4114800"/>
          </a:xfrm>
          <a:custGeom>
            <a:avLst/>
            <a:gdLst/>
            <a:ahLst/>
            <a:cxnLst/>
            <a:rect r="r" b="b" t="t" l="l"/>
            <a:pathLst>
              <a:path h="4114800" w="4360053">
                <a:moveTo>
                  <a:pt x="0" y="0"/>
                </a:moveTo>
                <a:lnTo>
                  <a:pt x="4360053" y="0"/>
                </a:lnTo>
                <a:lnTo>
                  <a:pt x="43600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652293">
            <a:off x="16983529" y="5751008"/>
            <a:ext cx="1645692" cy="1642700"/>
          </a:xfrm>
          <a:custGeom>
            <a:avLst/>
            <a:gdLst/>
            <a:ahLst/>
            <a:cxnLst/>
            <a:rect r="r" b="b" t="t" l="l"/>
            <a:pathLst>
              <a:path h="1642700" w="1645692">
                <a:moveTo>
                  <a:pt x="0" y="0"/>
                </a:moveTo>
                <a:lnTo>
                  <a:pt x="1645693" y="0"/>
                </a:lnTo>
                <a:lnTo>
                  <a:pt x="1645693" y="1642700"/>
                </a:lnTo>
                <a:lnTo>
                  <a:pt x="0" y="1642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831725">
            <a:off x="-742937" y="7811340"/>
            <a:ext cx="3125458" cy="3497537"/>
          </a:xfrm>
          <a:custGeom>
            <a:avLst/>
            <a:gdLst/>
            <a:ahLst/>
            <a:cxnLst/>
            <a:rect r="r" b="b" t="t" l="l"/>
            <a:pathLst>
              <a:path h="3497537" w="3125458">
                <a:moveTo>
                  <a:pt x="0" y="0"/>
                </a:moveTo>
                <a:lnTo>
                  <a:pt x="3125458" y="0"/>
                </a:lnTo>
                <a:lnTo>
                  <a:pt x="3125458" y="3497537"/>
                </a:lnTo>
                <a:lnTo>
                  <a:pt x="0" y="3497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3179362">
            <a:off x="15802758" y="-1021471"/>
            <a:ext cx="3125458" cy="3497537"/>
          </a:xfrm>
          <a:custGeom>
            <a:avLst/>
            <a:gdLst/>
            <a:ahLst/>
            <a:cxnLst/>
            <a:rect r="r" b="b" t="t" l="l"/>
            <a:pathLst>
              <a:path h="3497537" w="3125458">
                <a:moveTo>
                  <a:pt x="3125458" y="3497537"/>
                </a:moveTo>
                <a:lnTo>
                  <a:pt x="0" y="3497537"/>
                </a:lnTo>
                <a:lnTo>
                  <a:pt x="0" y="0"/>
                </a:lnTo>
                <a:lnTo>
                  <a:pt x="3125458" y="0"/>
                </a:lnTo>
                <a:lnTo>
                  <a:pt x="3125458" y="349753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3473863" y="7880583"/>
            <a:ext cx="2196274" cy="4114800"/>
          </a:xfrm>
          <a:custGeom>
            <a:avLst/>
            <a:gdLst/>
            <a:ahLst/>
            <a:cxnLst/>
            <a:rect r="r" b="b" t="t" l="l"/>
            <a:pathLst>
              <a:path h="4114800" w="2196274">
                <a:moveTo>
                  <a:pt x="0" y="0"/>
                </a:moveTo>
                <a:lnTo>
                  <a:pt x="2196274" y="0"/>
                </a:lnTo>
                <a:lnTo>
                  <a:pt x="21962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true" rot="-5400000">
            <a:off x="12603575" y="-1615907"/>
            <a:ext cx="2196274" cy="4114800"/>
          </a:xfrm>
          <a:custGeom>
            <a:avLst/>
            <a:gdLst/>
            <a:ahLst/>
            <a:cxnLst/>
            <a:rect r="r" b="b" t="t" l="l"/>
            <a:pathLst>
              <a:path h="4114800" w="2196274">
                <a:moveTo>
                  <a:pt x="2196275" y="4114800"/>
                </a:moveTo>
                <a:lnTo>
                  <a:pt x="0" y="4114800"/>
                </a:lnTo>
                <a:lnTo>
                  <a:pt x="0" y="0"/>
                </a:lnTo>
                <a:lnTo>
                  <a:pt x="2196275" y="0"/>
                </a:lnTo>
                <a:lnTo>
                  <a:pt x="219627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351741" y="-1083926"/>
            <a:ext cx="2440518" cy="2623557"/>
          </a:xfrm>
          <a:custGeom>
            <a:avLst/>
            <a:gdLst/>
            <a:ahLst/>
            <a:cxnLst/>
            <a:rect r="r" b="b" t="t" l="l"/>
            <a:pathLst>
              <a:path h="2623557" w="2440518">
                <a:moveTo>
                  <a:pt x="0" y="0"/>
                </a:moveTo>
                <a:lnTo>
                  <a:pt x="2440518" y="0"/>
                </a:lnTo>
                <a:lnTo>
                  <a:pt x="2440518" y="2623556"/>
                </a:lnTo>
                <a:lnTo>
                  <a:pt x="0" y="26235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0">
            <a:off x="12148079" y="8839846"/>
            <a:ext cx="2440518" cy="2623557"/>
          </a:xfrm>
          <a:custGeom>
            <a:avLst/>
            <a:gdLst/>
            <a:ahLst/>
            <a:cxnLst/>
            <a:rect r="r" b="b" t="t" l="l"/>
            <a:pathLst>
              <a:path h="2623557" w="2440518">
                <a:moveTo>
                  <a:pt x="2440517" y="2623557"/>
                </a:moveTo>
                <a:lnTo>
                  <a:pt x="0" y="2623557"/>
                </a:lnTo>
                <a:lnTo>
                  <a:pt x="0" y="0"/>
                </a:lnTo>
                <a:lnTo>
                  <a:pt x="2440517" y="0"/>
                </a:lnTo>
                <a:lnTo>
                  <a:pt x="2440517" y="262355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3095591" y="4320299"/>
            <a:ext cx="12096818" cy="2084552"/>
          </a:xfrm>
          <a:prstGeom prst="rect">
            <a:avLst/>
          </a:prstGeom>
        </p:spPr>
        <p:txBody>
          <a:bodyPr anchor="t" rtlCol="false" tIns="0" lIns="0" bIns="0" rIns="0">
            <a:spAutoFit/>
          </a:bodyPr>
          <a:lstStyle/>
          <a:p>
            <a:pPr algn="ctr">
              <a:lnSpc>
                <a:spcPts val="15241"/>
              </a:lnSpc>
            </a:pPr>
            <a:r>
              <a:rPr lang="en-US" sz="16567" b="true">
                <a:solidFill>
                  <a:srgbClr val="5E7B97"/>
                </a:solidFill>
                <a:latin typeface="Montserrat Bold"/>
                <a:ea typeface="Montserrat Bold"/>
                <a:cs typeface="Montserrat Bold"/>
                <a:sym typeface="Montserrat Bold"/>
              </a:rPr>
              <a:t>Tha</a:t>
            </a:r>
            <a:r>
              <a:rPr lang="en-US" b="true" sz="16567">
                <a:solidFill>
                  <a:srgbClr val="5E7B97"/>
                </a:solidFill>
                <a:latin typeface="Montserrat Bold"/>
                <a:ea typeface="Montserrat Bold"/>
                <a:cs typeface="Montserrat Bold"/>
                <a:sym typeface="Montserrat Bold"/>
              </a:rPr>
              <a:t>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DAHRIe1Khjw</dc:identifier>
  <dcterms:modified xsi:type="dcterms:W3CDTF">2011-08-01T06:04:30Z</dcterms:modified>
  <cp:revision>1</cp:revision>
  <dc:title>MovieFlix (DSA-3)</dc:title>
</cp:coreProperties>
</file>