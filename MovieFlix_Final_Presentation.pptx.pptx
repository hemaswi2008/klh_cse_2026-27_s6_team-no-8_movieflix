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ptos Bold" charset="1" panose="020B0004020202020204"/>
      <p:regular r:id="rId18"/>
    </p:embeddedFont>
    <p:embeddedFont>
      <p:font typeface="Aptos" charset="1" panose="020B0004020202020204"/>
      <p:regular r:id="rId19"/>
    </p:embeddedFont>
    <p:embeddedFont>
      <p:font typeface="Calibri (MS) Bold" charset="1" panose="020F070203040403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E5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6675"/>
            <a:ext cx="3152775" cy="1350169"/>
            <a:chOff x="0" y="0"/>
            <a:chExt cx="4203700" cy="1800225"/>
          </a:xfrm>
        </p:grpSpPr>
        <p:sp>
          <p:nvSpPr>
            <p:cNvPr name="Freeform 3" id="3" descr="KL University Hyderabad"/>
            <p:cNvSpPr/>
            <p:nvPr/>
          </p:nvSpPr>
          <p:spPr>
            <a:xfrm flipH="false" flipV="false" rot="0">
              <a:off x="0" y="0"/>
              <a:ext cx="4203700" cy="1800225"/>
            </a:xfrm>
            <a:custGeom>
              <a:avLst/>
              <a:gdLst/>
              <a:ahLst/>
              <a:cxnLst/>
              <a:rect r="r" b="b" t="t" l="l"/>
              <a:pathLst>
                <a:path h="1800225" w="4203700">
                  <a:moveTo>
                    <a:pt x="0" y="0"/>
                  </a:moveTo>
                  <a:lnTo>
                    <a:pt x="4203700" y="0"/>
                  </a:lnTo>
                  <a:lnTo>
                    <a:pt x="4203700" y="1800225"/>
                  </a:lnTo>
                  <a:lnTo>
                    <a:pt x="0" y="1800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7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217944"/>
            <a:ext cx="18288000" cy="69056"/>
            <a:chOff x="0" y="0"/>
            <a:chExt cx="24384000" cy="920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92075"/>
            </a:xfrm>
            <a:custGeom>
              <a:avLst/>
              <a:gdLst/>
              <a:ahLst/>
              <a:cxnLst/>
              <a:rect r="r" b="b" t="t" l="l"/>
              <a:pathLst>
                <a:path h="920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2075"/>
                  </a:lnTo>
                  <a:lnTo>
                    <a:pt x="0" y="92075"/>
                  </a:lnTo>
                  <a:close/>
                </a:path>
              </a:pathLst>
            </a:custGeom>
            <a:solidFill>
              <a:srgbClr val="BA253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69056"/>
            <a:chOff x="0" y="0"/>
            <a:chExt cx="24384000" cy="920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92075"/>
            </a:xfrm>
            <a:custGeom>
              <a:avLst/>
              <a:gdLst/>
              <a:ahLst/>
              <a:cxnLst/>
              <a:rect r="r" b="b" t="t" l="l"/>
              <a:pathLst>
                <a:path h="920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2075"/>
                  </a:lnTo>
                  <a:lnTo>
                    <a:pt x="0" y="92075"/>
                  </a:lnTo>
                  <a:close/>
                </a:path>
              </a:pathLst>
            </a:custGeom>
            <a:solidFill>
              <a:srgbClr val="BA253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286000" y="1629575"/>
            <a:ext cx="13716000" cy="2764050"/>
            <a:chOff x="0" y="0"/>
            <a:chExt cx="18288000" cy="3685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288000" cy="3685399"/>
            </a:xfrm>
            <a:custGeom>
              <a:avLst/>
              <a:gdLst/>
              <a:ahLst/>
              <a:cxnLst/>
              <a:rect r="r" b="b" t="t" l="l"/>
              <a:pathLst>
                <a:path h="3685399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3685399"/>
                  </a:lnTo>
                  <a:lnTo>
                    <a:pt x="0" y="36853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8" r="0" b="-5955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57150"/>
              <a:ext cx="18288000" cy="362825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4860"/>
                </a:lnSpc>
              </a:pPr>
              <a:r>
                <a:rPr lang="en-US" sz="4500" b="true">
                  <a:solidFill>
                    <a:srgbClr val="1955B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Data Structures and Algorithms - 3 (25CS2103E)</a:t>
              </a:r>
            </a:p>
            <a:p>
              <a:pPr algn="ctr">
                <a:lnSpc>
                  <a:spcPts val="4860"/>
                </a:lnSpc>
              </a:pPr>
            </a:p>
            <a:p>
              <a:pPr algn="ctr">
                <a:lnSpc>
                  <a:spcPts val="4860"/>
                </a:lnSpc>
              </a:pPr>
              <a:r>
                <a:rPr lang="en-US" sz="4500" b="true">
                  <a:solidFill>
                    <a:srgbClr val="1955B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MOVIEFLIX - </a:t>
              </a:r>
            </a:p>
            <a:p>
              <a:pPr algn="ctr">
                <a:lnSpc>
                  <a:spcPts val="4860"/>
                </a:lnSpc>
              </a:pPr>
              <a:r>
                <a:rPr lang="en-US" sz="4500" b="true">
                  <a:solidFill>
                    <a:srgbClr val="1955B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Intelligent Movie Search System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5162201" y="5181600"/>
            <a:ext cx="7963598" cy="2362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6"/>
              </a:lnSpc>
            </a:pPr>
            <a:r>
              <a:rPr lang="en-US" sz="2876" b="true">
                <a:solidFill>
                  <a:srgbClr val="142B5C"/>
                </a:solidFill>
                <a:latin typeface="Aptos Bold"/>
                <a:ea typeface="Aptos Bold"/>
                <a:cs typeface="Aptos Bold"/>
                <a:sym typeface="Aptos Bold"/>
              </a:rPr>
              <a:t>Team Members</a:t>
            </a:r>
          </a:p>
          <a:p>
            <a:pPr algn="ctr">
              <a:lnSpc>
                <a:spcPts val="3106"/>
              </a:lnSpc>
            </a:pPr>
            <a:r>
              <a:rPr lang="en-US" sz="2876" b="true">
                <a:solidFill>
                  <a:srgbClr val="142B5C"/>
                </a:solidFill>
                <a:latin typeface="Aptos Bold"/>
                <a:ea typeface="Aptos Bold"/>
                <a:cs typeface="Aptos Bold"/>
                <a:sym typeface="Aptos Bold"/>
              </a:rPr>
              <a:t>G. Hemaswi — 2520030069</a:t>
            </a:r>
          </a:p>
          <a:p>
            <a:pPr algn="ctr">
              <a:lnSpc>
                <a:spcPts val="3106"/>
              </a:lnSpc>
            </a:pPr>
            <a:r>
              <a:rPr lang="en-US" sz="2876" b="true">
                <a:solidFill>
                  <a:srgbClr val="142B5C"/>
                </a:solidFill>
                <a:latin typeface="Aptos Bold"/>
                <a:ea typeface="Aptos Bold"/>
                <a:cs typeface="Aptos Bold"/>
                <a:sym typeface="Aptos Bold"/>
              </a:rPr>
              <a:t>Simi Ayana — 2520030254</a:t>
            </a:r>
          </a:p>
          <a:p>
            <a:pPr algn="ctr">
              <a:lnSpc>
                <a:spcPts val="3106"/>
              </a:lnSpc>
            </a:pPr>
            <a:r>
              <a:rPr lang="en-US" sz="2876" b="true">
                <a:solidFill>
                  <a:srgbClr val="142B5C"/>
                </a:solidFill>
                <a:latin typeface="Aptos Bold"/>
                <a:ea typeface="Aptos Bold"/>
                <a:cs typeface="Aptos Bold"/>
                <a:sym typeface="Aptos Bold"/>
              </a:rPr>
              <a:t>S. Rushvini — 2520030542</a:t>
            </a:r>
          </a:p>
          <a:p>
            <a:pPr algn="ctr">
              <a:lnSpc>
                <a:spcPts val="3106"/>
              </a:lnSpc>
            </a:pPr>
          </a:p>
          <a:p>
            <a:pPr algn="ctr">
              <a:lnSpc>
                <a:spcPts val="3106"/>
              </a:lnSpc>
            </a:pPr>
            <a:r>
              <a:rPr lang="en-US" sz="2876" b="true">
                <a:solidFill>
                  <a:srgbClr val="142B5C"/>
                </a:solidFill>
                <a:latin typeface="Aptos Bold"/>
                <a:ea typeface="Aptos Bold"/>
                <a:cs typeface="Aptos Bold"/>
                <a:sym typeface="Aptos Bold"/>
              </a:rPr>
              <a:t>Under the Esteemed Guidance of</a:t>
            </a:r>
          </a:p>
          <a:p>
            <a:pPr algn="ctr">
              <a:lnSpc>
                <a:spcPts val="3106"/>
              </a:lnSpc>
            </a:pPr>
            <a:r>
              <a:rPr lang="en-US" sz="2876" b="true">
                <a:solidFill>
                  <a:srgbClr val="142B5C"/>
                </a:solidFill>
                <a:latin typeface="Aptos Bold"/>
                <a:ea typeface="Aptos Bold"/>
                <a:cs typeface="Aptos Bold"/>
                <a:sym typeface="Aptos Bold"/>
              </a:rPr>
              <a:t>Dr. V. Sireesha, Professor</a:t>
            </a:r>
          </a:p>
          <a:p>
            <a:pPr algn="ctr">
              <a:lnSpc>
                <a:spcPts val="3106"/>
              </a:lnSpc>
            </a:pPr>
            <a:r>
              <a:rPr lang="en-US" sz="2876" b="true">
                <a:solidFill>
                  <a:srgbClr val="142B5C"/>
                </a:solidFill>
                <a:latin typeface="Aptos Bold"/>
                <a:ea typeface="Aptos Bold"/>
                <a:cs typeface="Aptos Bold"/>
                <a:sym typeface="Aptos Bold"/>
              </a:rPr>
              <a:t>Department of Computer Science and Engineering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E5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6675"/>
            <a:ext cx="3152775" cy="1350169"/>
            <a:chOff x="0" y="0"/>
            <a:chExt cx="4203700" cy="1800225"/>
          </a:xfrm>
        </p:grpSpPr>
        <p:sp>
          <p:nvSpPr>
            <p:cNvPr name="Freeform 3" id="3" descr="KL University Hyderabad"/>
            <p:cNvSpPr/>
            <p:nvPr/>
          </p:nvSpPr>
          <p:spPr>
            <a:xfrm flipH="false" flipV="false" rot="0">
              <a:off x="0" y="0"/>
              <a:ext cx="4203700" cy="1800225"/>
            </a:xfrm>
            <a:custGeom>
              <a:avLst/>
              <a:gdLst/>
              <a:ahLst/>
              <a:cxnLst/>
              <a:rect r="r" b="b" t="t" l="l"/>
              <a:pathLst>
                <a:path h="1800225" w="4203700">
                  <a:moveTo>
                    <a:pt x="0" y="0"/>
                  </a:moveTo>
                  <a:lnTo>
                    <a:pt x="4203700" y="0"/>
                  </a:lnTo>
                  <a:lnTo>
                    <a:pt x="4203700" y="1800225"/>
                  </a:lnTo>
                  <a:lnTo>
                    <a:pt x="0" y="1800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7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217944"/>
            <a:ext cx="18288000" cy="69056"/>
            <a:chOff x="0" y="0"/>
            <a:chExt cx="24384000" cy="920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92075"/>
            </a:xfrm>
            <a:custGeom>
              <a:avLst/>
              <a:gdLst/>
              <a:ahLst/>
              <a:cxnLst/>
              <a:rect r="r" b="b" t="t" l="l"/>
              <a:pathLst>
                <a:path h="920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2075"/>
                  </a:lnTo>
                  <a:lnTo>
                    <a:pt x="0" y="92075"/>
                  </a:lnTo>
                  <a:close/>
                </a:path>
              </a:pathLst>
            </a:custGeom>
            <a:solidFill>
              <a:srgbClr val="BA253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69056"/>
            <a:chOff x="0" y="0"/>
            <a:chExt cx="24384000" cy="920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92075"/>
            </a:xfrm>
            <a:custGeom>
              <a:avLst/>
              <a:gdLst/>
              <a:ahLst/>
              <a:cxnLst/>
              <a:rect r="r" b="b" t="t" l="l"/>
              <a:pathLst>
                <a:path h="920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2075"/>
                  </a:lnTo>
                  <a:lnTo>
                    <a:pt x="0" y="92075"/>
                  </a:lnTo>
                  <a:close/>
                </a:path>
              </a:pathLst>
            </a:custGeom>
            <a:solidFill>
              <a:srgbClr val="BA2532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5594642" y="1692592"/>
            <a:ext cx="10221697" cy="671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5940"/>
              </a:lnSpc>
              <a:buAutoNum type="arabicPeriod" startAt="1"/>
            </a:pPr>
            <a:r>
              <a:rPr lang="en-US" sz="330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 Abstract</a:t>
            </a:r>
          </a:p>
          <a:p>
            <a:pPr algn="l" marL="712470" indent="-356235" lvl="1">
              <a:lnSpc>
                <a:spcPts val="5940"/>
              </a:lnSpc>
              <a:buAutoNum type="arabicPeriod" startAt="1"/>
            </a:pPr>
            <a:r>
              <a:rPr lang="en-US" sz="330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Introduction</a:t>
            </a:r>
          </a:p>
          <a:p>
            <a:pPr algn="l" marL="712470" indent="-356235" lvl="1">
              <a:lnSpc>
                <a:spcPts val="5940"/>
              </a:lnSpc>
              <a:buAutoNum type="arabicPeriod" startAt="1"/>
            </a:pPr>
            <a:r>
              <a:rPr lang="en-US" sz="330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Literature Survey</a:t>
            </a:r>
          </a:p>
          <a:p>
            <a:pPr algn="l" marL="712470" indent="-356235" lvl="1">
              <a:lnSpc>
                <a:spcPts val="5940"/>
              </a:lnSpc>
              <a:buAutoNum type="arabicPeriod" startAt="1"/>
            </a:pPr>
            <a:r>
              <a:rPr lang="en-US" sz="330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Problem Statement &amp; Objectives</a:t>
            </a:r>
          </a:p>
          <a:p>
            <a:pPr algn="l" marL="712470" indent="-356235" lvl="1">
              <a:lnSpc>
                <a:spcPts val="5940"/>
              </a:lnSpc>
              <a:buAutoNum type="arabicPeriod" startAt="1"/>
            </a:pPr>
            <a:r>
              <a:rPr lang="en-US" sz="330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Flow Chart</a:t>
            </a:r>
          </a:p>
          <a:p>
            <a:pPr algn="l" marL="712470" indent="-356235" lvl="1">
              <a:lnSpc>
                <a:spcPts val="5940"/>
              </a:lnSpc>
              <a:buAutoNum type="arabicPeriod" startAt="1"/>
            </a:pPr>
            <a:r>
              <a:rPr lang="en-US" sz="330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Results &amp; Algorithm Execution</a:t>
            </a:r>
          </a:p>
          <a:p>
            <a:pPr algn="l" marL="712470" indent="-356235" lvl="1">
              <a:lnSpc>
                <a:spcPts val="5940"/>
              </a:lnSpc>
              <a:buAutoNum type="arabicPeriod" startAt="1"/>
            </a:pPr>
            <a:r>
              <a:rPr lang="en-US" sz="330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Hardware &amp; Software Requirements</a:t>
            </a:r>
          </a:p>
          <a:p>
            <a:pPr algn="l" marL="712470" indent="-356235" lvl="1">
              <a:lnSpc>
                <a:spcPts val="5940"/>
              </a:lnSpc>
              <a:buAutoNum type="arabicPeriod" startAt="1"/>
            </a:pPr>
            <a:r>
              <a:rPr lang="en-US" sz="330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Conclusion</a:t>
            </a:r>
          </a:p>
          <a:p>
            <a:pPr algn="l" marL="712470" indent="-356235" lvl="1">
              <a:lnSpc>
                <a:spcPts val="5940"/>
              </a:lnSpc>
              <a:buAutoNum type="arabicPeriod" startAt="1"/>
            </a:pPr>
            <a:r>
              <a:rPr lang="en-US" sz="330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Future Scope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594642" y="322983"/>
            <a:ext cx="7098725" cy="794899"/>
            <a:chOff x="0" y="0"/>
            <a:chExt cx="9464967" cy="105986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464928" cy="1059942"/>
            </a:xfrm>
            <a:custGeom>
              <a:avLst/>
              <a:gdLst/>
              <a:ahLst/>
              <a:cxnLst/>
              <a:rect r="r" b="b" t="t" l="l"/>
              <a:pathLst>
                <a:path h="1059942" w="9464928">
                  <a:moveTo>
                    <a:pt x="0" y="176657"/>
                  </a:moveTo>
                  <a:cubicBezTo>
                    <a:pt x="0" y="79121"/>
                    <a:pt x="79121" y="0"/>
                    <a:pt x="176657" y="0"/>
                  </a:cubicBezTo>
                  <a:lnTo>
                    <a:pt x="9288272" y="0"/>
                  </a:lnTo>
                  <a:cubicBezTo>
                    <a:pt x="9385808" y="0"/>
                    <a:pt x="9464928" y="79121"/>
                    <a:pt x="9464928" y="176657"/>
                  </a:cubicBezTo>
                  <a:lnTo>
                    <a:pt x="9464928" y="883285"/>
                  </a:lnTo>
                  <a:cubicBezTo>
                    <a:pt x="9464928" y="980821"/>
                    <a:pt x="9385808" y="1059942"/>
                    <a:pt x="9288272" y="1059942"/>
                  </a:cubicBezTo>
                  <a:lnTo>
                    <a:pt x="176657" y="1059942"/>
                  </a:lnTo>
                  <a:cubicBezTo>
                    <a:pt x="79121" y="1059815"/>
                    <a:pt x="0" y="980821"/>
                    <a:pt x="0" y="883285"/>
                  </a:cubicBezTo>
                  <a:close/>
                </a:path>
              </a:pathLst>
            </a:custGeom>
            <a:solidFill>
              <a:srgbClr val="C00000"/>
            </a:solidFill>
            <a:ln w="19050" cap="sq">
              <a:solidFill>
                <a:srgbClr val="172C51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4081548" y="292503"/>
            <a:ext cx="10124904" cy="8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E5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6675"/>
            <a:ext cx="3152775" cy="1350169"/>
            <a:chOff x="0" y="0"/>
            <a:chExt cx="4203700" cy="1800225"/>
          </a:xfrm>
        </p:grpSpPr>
        <p:sp>
          <p:nvSpPr>
            <p:cNvPr name="Freeform 3" id="3" descr="KL University Hyderabad"/>
            <p:cNvSpPr/>
            <p:nvPr/>
          </p:nvSpPr>
          <p:spPr>
            <a:xfrm flipH="false" flipV="false" rot="0">
              <a:off x="0" y="0"/>
              <a:ext cx="4203700" cy="1800225"/>
            </a:xfrm>
            <a:custGeom>
              <a:avLst/>
              <a:gdLst/>
              <a:ahLst/>
              <a:cxnLst/>
              <a:rect r="r" b="b" t="t" l="l"/>
              <a:pathLst>
                <a:path h="1800225" w="4203700">
                  <a:moveTo>
                    <a:pt x="0" y="0"/>
                  </a:moveTo>
                  <a:lnTo>
                    <a:pt x="4203700" y="0"/>
                  </a:lnTo>
                  <a:lnTo>
                    <a:pt x="4203700" y="1800225"/>
                  </a:lnTo>
                  <a:lnTo>
                    <a:pt x="0" y="1800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7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217944"/>
            <a:ext cx="18288000" cy="69056"/>
            <a:chOff x="0" y="0"/>
            <a:chExt cx="24384000" cy="920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92075"/>
            </a:xfrm>
            <a:custGeom>
              <a:avLst/>
              <a:gdLst/>
              <a:ahLst/>
              <a:cxnLst/>
              <a:rect r="r" b="b" t="t" l="l"/>
              <a:pathLst>
                <a:path h="920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2075"/>
                  </a:lnTo>
                  <a:lnTo>
                    <a:pt x="0" y="92075"/>
                  </a:lnTo>
                  <a:close/>
                </a:path>
              </a:pathLst>
            </a:custGeom>
            <a:solidFill>
              <a:srgbClr val="BA253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69056"/>
            <a:chOff x="0" y="0"/>
            <a:chExt cx="24384000" cy="920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92075"/>
            </a:xfrm>
            <a:custGeom>
              <a:avLst/>
              <a:gdLst/>
              <a:ahLst/>
              <a:cxnLst/>
              <a:rect r="r" b="b" t="t" l="l"/>
              <a:pathLst>
                <a:path h="920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2075"/>
                  </a:lnTo>
                  <a:lnTo>
                    <a:pt x="0" y="92075"/>
                  </a:lnTo>
                  <a:close/>
                </a:path>
              </a:pathLst>
            </a:custGeom>
            <a:solidFill>
              <a:srgbClr val="BA253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594642" y="322983"/>
            <a:ext cx="7098725" cy="794899"/>
            <a:chOff x="0" y="0"/>
            <a:chExt cx="9464967" cy="10598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464928" cy="1059942"/>
            </a:xfrm>
            <a:custGeom>
              <a:avLst/>
              <a:gdLst/>
              <a:ahLst/>
              <a:cxnLst/>
              <a:rect r="r" b="b" t="t" l="l"/>
              <a:pathLst>
                <a:path h="1059942" w="9464928">
                  <a:moveTo>
                    <a:pt x="0" y="176657"/>
                  </a:moveTo>
                  <a:cubicBezTo>
                    <a:pt x="0" y="79121"/>
                    <a:pt x="79121" y="0"/>
                    <a:pt x="176657" y="0"/>
                  </a:cubicBezTo>
                  <a:lnTo>
                    <a:pt x="9288272" y="0"/>
                  </a:lnTo>
                  <a:cubicBezTo>
                    <a:pt x="9385808" y="0"/>
                    <a:pt x="9464928" y="79121"/>
                    <a:pt x="9464928" y="176657"/>
                  </a:cubicBezTo>
                  <a:lnTo>
                    <a:pt x="9464928" y="883285"/>
                  </a:lnTo>
                  <a:cubicBezTo>
                    <a:pt x="9464928" y="980821"/>
                    <a:pt x="9385808" y="1059942"/>
                    <a:pt x="9288272" y="1059942"/>
                  </a:cubicBezTo>
                  <a:lnTo>
                    <a:pt x="176657" y="1059942"/>
                  </a:lnTo>
                  <a:cubicBezTo>
                    <a:pt x="79121" y="1059815"/>
                    <a:pt x="0" y="980821"/>
                    <a:pt x="0" y="883285"/>
                  </a:cubicBezTo>
                  <a:close/>
                </a:path>
              </a:pathLst>
            </a:custGeom>
            <a:solidFill>
              <a:srgbClr val="C00000"/>
            </a:solidFill>
            <a:ln w="19050" cap="sq">
              <a:solidFill>
                <a:srgbClr val="172C51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4505325" y="1990725"/>
            <a:ext cx="12930864" cy="502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MovieFlix is a Java-based movie search system that demonstrates how Data Structures and Algorithms improve retrieval and organisation of movie records.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• Dataset fields: title, language, genre, release year, director and description.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• HashMap supports fast exact-title lookup.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• Merge Sort organizes movies by title or release year; Binary Search finds titles in sorted data.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• KMP searches keywords in movie titles and descriptions.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• Levenshtein distance suggests a close title when the user makes a spelling mistake.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• CSV persistence supports adding, updating, deleting, saving and reloading records.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081548" y="292503"/>
            <a:ext cx="10124904" cy="8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Abstract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E5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6675"/>
            <a:ext cx="3152775" cy="1350169"/>
            <a:chOff x="0" y="0"/>
            <a:chExt cx="4203700" cy="1800225"/>
          </a:xfrm>
        </p:grpSpPr>
        <p:sp>
          <p:nvSpPr>
            <p:cNvPr name="Freeform 3" id="3" descr="KL University Hyderabad"/>
            <p:cNvSpPr/>
            <p:nvPr/>
          </p:nvSpPr>
          <p:spPr>
            <a:xfrm flipH="false" flipV="false" rot="0">
              <a:off x="0" y="0"/>
              <a:ext cx="4203700" cy="1800225"/>
            </a:xfrm>
            <a:custGeom>
              <a:avLst/>
              <a:gdLst/>
              <a:ahLst/>
              <a:cxnLst/>
              <a:rect r="r" b="b" t="t" l="l"/>
              <a:pathLst>
                <a:path h="1800225" w="4203700">
                  <a:moveTo>
                    <a:pt x="0" y="0"/>
                  </a:moveTo>
                  <a:lnTo>
                    <a:pt x="4203700" y="0"/>
                  </a:lnTo>
                  <a:lnTo>
                    <a:pt x="4203700" y="1800225"/>
                  </a:lnTo>
                  <a:lnTo>
                    <a:pt x="0" y="1800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7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217944"/>
            <a:ext cx="18288000" cy="69056"/>
            <a:chOff x="0" y="0"/>
            <a:chExt cx="24384000" cy="920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92075"/>
            </a:xfrm>
            <a:custGeom>
              <a:avLst/>
              <a:gdLst/>
              <a:ahLst/>
              <a:cxnLst/>
              <a:rect r="r" b="b" t="t" l="l"/>
              <a:pathLst>
                <a:path h="920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2075"/>
                  </a:lnTo>
                  <a:lnTo>
                    <a:pt x="0" y="92075"/>
                  </a:lnTo>
                  <a:close/>
                </a:path>
              </a:pathLst>
            </a:custGeom>
            <a:solidFill>
              <a:srgbClr val="BA253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69056"/>
            <a:chOff x="0" y="0"/>
            <a:chExt cx="24384000" cy="920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92075"/>
            </a:xfrm>
            <a:custGeom>
              <a:avLst/>
              <a:gdLst/>
              <a:ahLst/>
              <a:cxnLst/>
              <a:rect r="r" b="b" t="t" l="l"/>
              <a:pathLst>
                <a:path h="920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2075"/>
                  </a:lnTo>
                  <a:lnTo>
                    <a:pt x="0" y="92075"/>
                  </a:lnTo>
                  <a:close/>
                </a:path>
              </a:pathLst>
            </a:custGeom>
            <a:solidFill>
              <a:srgbClr val="BA253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594642" y="322983"/>
            <a:ext cx="7098725" cy="794899"/>
            <a:chOff x="0" y="0"/>
            <a:chExt cx="9464967" cy="10598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464928" cy="1059942"/>
            </a:xfrm>
            <a:custGeom>
              <a:avLst/>
              <a:gdLst/>
              <a:ahLst/>
              <a:cxnLst/>
              <a:rect r="r" b="b" t="t" l="l"/>
              <a:pathLst>
                <a:path h="1059942" w="9464928">
                  <a:moveTo>
                    <a:pt x="0" y="176657"/>
                  </a:moveTo>
                  <a:cubicBezTo>
                    <a:pt x="0" y="79121"/>
                    <a:pt x="79121" y="0"/>
                    <a:pt x="176657" y="0"/>
                  </a:cubicBezTo>
                  <a:lnTo>
                    <a:pt x="9288272" y="0"/>
                  </a:lnTo>
                  <a:cubicBezTo>
                    <a:pt x="9385808" y="0"/>
                    <a:pt x="9464928" y="79121"/>
                    <a:pt x="9464928" y="176657"/>
                  </a:cubicBezTo>
                  <a:lnTo>
                    <a:pt x="9464928" y="883285"/>
                  </a:lnTo>
                  <a:cubicBezTo>
                    <a:pt x="9464928" y="980821"/>
                    <a:pt x="9385808" y="1059942"/>
                    <a:pt x="9288272" y="1059942"/>
                  </a:cubicBezTo>
                  <a:lnTo>
                    <a:pt x="176657" y="1059942"/>
                  </a:lnTo>
                  <a:cubicBezTo>
                    <a:pt x="79121" y="1059815"/>
                    <a:pt x="0" y="980821"/>
                    <a:pt x="0" y="883285"/>
                  </a:cubicBezTo>
                  <a:close/>
                </a:path>
              </a:pathLst>
            </a:custGeom>
            <a:solidFill>
              <a:srgbClr val="C00000"/>
            </a:solidFill>
            <a:ln w="19050" cap="sq">
              <a:solidFill>
                <a:srgbClr val="172C51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4505325" y="1945589"/>
            <a:ext cx="12462350" cy="557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Movie catalogues contain many titles, so finding a movie manually can be slow.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Project approach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• Load movie records from a CSV dataset.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• Store titles in a HashMap for exact lookup.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• Use sorting and Binary Search for ordered title retrieval.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• Use KMP for keyword matching and Levenshtein distance for approximate-title matching.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• Provide language and genre filters.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• Allow dataset changes through add, update, delete, save and reload operations.</a:t>
            </a:r>
          </a:p>
          <a:p>
            <a:pPr algn="l">
              <a:lnSpc>
                <a:spcPts val="3419"/>
              </a:lnSpc>
            </a:pP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Implementation: Java console application in VS Code; dataset stored in CSV format.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081548" y="250946"/>
            <a:ext cx="10124904" cy="8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Introduction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E5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6675"/>
            <a:ext cx="3152775" cy="1350169"/>
            <a:chOff x="0" y="0"/>
            <a:chExt cx="4203700" cy="1800225"/>
          </a:xfrm>
        </p:grpSpPr>
        <p:sp>
          <p:nvSpPr>
            <p:cNvPr name="Freeform 3" id="3" descr="KL University Hyderabad"/>
            <p:cNvSpPr/>
            <p:nvPr/>
          </p:nvSpPr>
          <p:spPr>
            <a:xfrm flipH="false" flipV="false" rot="0">
              <a:off x="0" y="0"/>
              <a:ext cx="4203700" cy="1800225"/>
            </a:xfrm>
            <a:custGeom>
              <a:avLst/>
              <a:gdLst/>
              <a:ahLst/>
              <a:cxnLst/>
              <a:rect r="r" b="b" t="t" l="l"/>
              <a:pathLst>
                <a:path h="1800225" w="4203700">
                  <a:moveTo>
                    <a:pt x="0" y="0"/>
                  </a:moveTo>
                  <a:lnTo>
                    <a:pt x="4203700" y="0"/>
                  </a:lnTo>
                  <a:lnTo>
                    <a:pt x="4203700" y="1800225"/>
                  </a:lnTo>
                  <a:lnTo>
                    <a:pt x="0" y="1800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7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217944"/>
            <a:ext cx="18288000" cy="69056"/>
            <a:chOff x="0" y="0"/>
            <a:chExt cx="24384000" cy="920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92075"/>
            </a:xfrm>
            <a:custGeom>
              <a:avLst/>
              <a:gdLst/>
              <a:ahLst/>
              <a:cxnLst/>
              <a:rect r="r" b="b" t="t" l="l"/>
              <a:pathLst>
                <a:path h="920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2075"/>
                  </a:lnTo>
                  <a:lnTo>
                    <a:pt x="0" y="92075"/>
                  </a:lnTo>
                  <a:close/>
                </a:path>
              </a:pathLst>
            </a:custGeom>
            <a:solidFill>
              <a:srgbClr val="BA253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69056"/>
            <a:chOff x="0" y="0"/>
            <a:chExt cx="24384000" cy="920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92075"/>
            </a:xfrm>
            <a:custGeom>
              <a:avLst/>
              <a:gdLst/>
              <a:ahLst/>
              <a:cxnLst/>
              <a:rect r="r" b="b" t="t" l="l"/>
              <a:pathLst>
                <a:path h="920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2075"/>
                  </a:lnTo>
                  <a:lnTo>
                    <a:pt x="0" y="92075"/>
                  </a:lnTo>
                  <a:close/>
                </a:path>
              </a:pathLst>
            </a:custGeom>
            <a:solidFill>
              <a:srgbClr val="BA253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594642" y="322983"/>
            <a:ext cx="7098725" cy="794899"/>
            <a:chOff x="0" y="0"/>
            <a:chExt cx="9464967" cy="10598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464928" cy="1059942"/>
            </a:xfrm>
            <a:custGeom>
              <a:avLst/>
              <a:gdLst/>
              <a:ahLst/>
              <a:cxnLst/>
              <a:rect r="r" b="b" t="t" l="l"/>
              <a:pathLst>
                <a:path h="1059942" w="9464928">
                  <a:moveTo>
                    <a:pt x="0" y="176657"/>
                  </a:moveTo>
                  <a:cubicBezTo>
                    <a:pt x="0" y="79121"/>
                    <a:pt x="79121" y="0"/>
                    <a:pt x="176657" y="0"/>
                  </a:cubicBezTo>
                  <a:lnTo>
                    <a:pt x="9288272" y="0"/>
                  </a:lnTo>
                  <a:cubicBezTo>
                    <a:pt x="9385808" y="0"/>
                    <a:pt x="9464928" y="79121"/>
                    <a:pt x="9464928" y="176657"/>
                  </a:cubicBezTo>
                  <a:lnTo>
                    <a:pt x="9464928" y="883285"/>
                  </a:lnTo>
                  <a:cubicBezTo>
                    <a:pt x="9464928" y="980821"/>
                    <a:pt x="9385808" y="1059942"/>
                    <a:pt x="9288272" y="1059942"/>
                  </a:cubicBezTo>
                  <a:lnTo>
                    <a:pt x="176657" y="1059942"/>
                  </a:lnTo>
                  <a:cubicBezTo>
                    <a:pt x="79121" y="1059815"/>
                    <a:pt x="0" y="980821"/>
                    <a:pt x="0" y="883285"/>
                  </a:cubicBezTo>
                  <a:close/>
                </a:path>
              </a:pathLst>
            </a:custGeom>
            <a:solidFill>
              <a:srgbClr val="C00000"/>
            </a:solidFill>
            <a:ln w="19050" cap="sq">
              <a:solidFill>
                <a:srgbClr val="172C51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4081548" y="250946"/>
            <a:ext cx="10124904" cy="8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Literature Survey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505325" y="2252662"/>
            <a:ext cx="11520255" cy="457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Technique                             Purpose in MovieFlix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HashMap                               Fast exact-title retrieval by key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Merge Sort                             Sort titles alphabetically or by year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Binary Search                       Search a sorted list of movie titles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KMP Pattern Matching      Find keywords in titles and descriptions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Levenshtein Distance       Match misspelled or approximate titles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CSV File Handling               Persist movie records between runs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The project combines these techniques so that different query types use an appropriate algorithm.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E5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6675"/>
            <a:ext cx="3152775" cy="1350169"/>
            <a:chOff x="0" y="0"/>
            <a:chExt cx="4203700" cy="1800225"/>
          </a:xfrm>
        </p:grpSpPr>
        <p:sp>
          <p:nvSpPr>
            <p:cNvPr name="Freeform 3" id="3" descr="KL University Hyderabad"/>
            <p:cNvSpPr/>
            <p:nvPr/>
          </p:nvSpPr>
          <p:spPr>
            <a:xfrm flipH="false" flipV="false" rot="0">
              <a:off x="0" y="0"/>
              <a:ext cx="4203700" cy="1800225"/>
            </a:xfrm>
            <a:custGeom>
              <a:avLst/>
              <a:gdLst/>
              <a:ahLst/>
              <a:cxnLst/>
              <a:rect r="r" b="b" t="t" l="l"/>
              <a:pathLst>
                <a:path h="1800225" w="4203700">
                  <a:moveTo>
                    <a:pt x="0" y="0"/>
                  </a:moveTo>
                  <a:lnTo>
                    <a:pt x="4203700" y="0"/>
                  </a:lnTo>
                  <a:lnTo>
                    <a:pt x="4203700" y="1800225"/>
                  </a:lnTo>
                  <a:lnTo>
                    <a:pt x="0" y="1800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7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217944"/>
            <a:ext cx="18288000" cy="69056"/>
            <a:chOff x="0" y="0"/>
            <a:chExt cx="24384000" cy="920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92075"/>
            </a:xfrm>
            <a:custGeom>
              <a:avLst/>
              <a:gdLst/>
              <a:ahLst/>
              <a:cxnLst/>
              <a:rect r="r" b="b" t="t" l="l"/>
              <a:pathLst>
                <a:path h="920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2075"/>
                  </a:lnTo>
                  <a:lnTo>
                    <a:pt x="0" y="92075"/>
                  </a:lnTo>
                  <a:close/>
                </a:path>
              </a:pathLst>
            </a:custGeom>
            <a:solidFill>
              <a:srgbClr val="BA253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69056"/>
            <a:chOff x="0" y="0"/>
            <a:chExt cx="24384000" cy="920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92075"/>
            </a:xfrm>
            <a:custGeom>
              <a:avLst/>
              <a:gdLst/>
              <a:ahLst/>
              <a:cxnLst/>
              <a:rect r="r" b="b" t="t" l="l"/>
              <a:pathLst>
                <a:path h="920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2075"/>
                  </a:lnTo>
                  <a:lnTo>
                    <a:pt x="0" y="92075"/>
                  </a:lnTo>
                  <a:close/>
                </a:path>
              </a:pathLst>
            </a:custGeom>
            <a:solidFill>
              <a:srgbClr val="BA253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980583" y="322983"/>
            <a:ext cx="10104491" cy="1002744"/>
            <a:chOff x="0" y="0"/>
            <a:chExt cx="13472655" cy="133699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472669" cy="1337056"/>
            </a:xfrm>
            <a:custGeom>
              <a:avLst/>
              <a:gdLst/>
              <a:ahLst/>
              <a:cxnLst/>
              <a:rect r="r" b="b" t="t" l="l"/>
              <a:pathLst>
                <a:path h="1337056" w="13472669">
                  <a:moveTo>
                    <a:pt x="0" y="222885"/>
                  </a:moveTo>
                  <a:cubicBezTo>
                    <a:pt x="0" y="99822"/>
                    <a:pt x="99822" y="0"/>
                    <a:pt x="222885" y="0"/>
                  </a:cubicBezTo>
                  <a:lnTo>
                    <a:pt x="13249783" y="0"/>
                  </a:lnTo>
                  <a:cubicBezTo>
                    <a:pt x="13372846" y="0"/>
                    <a:pt x="13472669" y="99822"/>
                    <a:pt x="13472669" y="222885"/>
                  </a:cubicBezTo>
                  <a:lnTo>
                    <a:pt x="13472669" y="1114171"/>
                  </a:lnTo>
                  <a:cubicBezTo>
                    <a:pt x="13472669" y="1237234"/>
                    <a:pt x="13372846" y="1337056"/>
                    <a:pt x="13249783" y="1337056"/>
                  </a:cubicBezTo>
                  <a:lnTo>
                    <a:pt x="222885" y="1337056"/>
                  </a:lnTo>
                  <a:cubicBezTo>
                    <a:pt x="99822" y="1336929"/>
                    <a:pt x="0" y="1237234"/>
                    <a:pt x="0" y="1114171"/>
                  </a:cubicBezTo>
                  <a:close/>
                </a:path>
              </a:pathLst>
            </a:custGeom>
            <a:solidFill>
              <a:srgbClr val="C00000"/>
            </a:solidFill>
            <a:ln w="19050" cap="sq">
              <a:solidFill>
                <a:srgbClr val="172C51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4081548" y="399040"/>
            <a:ext cx="10124904" cy="8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Problem Statement and Objectives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333566" y="2036759"/>
            <a:ext cx="11960912" cy="600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Problem Statement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Searching a large movie catalogue manually is inefficient, and exact-match search may fail when a user remembers only a keyword or enters a misspelled title.</a:t>
            </a:r>
          </a:p>
          <a:p>
            <a:pPr algn="l">
              <a:lnSpc>
                <a:spcPts val="3419"/>
              </a:lnSpc>
            </a:pP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Objectives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• Retrieve a movie quickly using its exact title.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• Demonstrate Binary Search on sorted movie titles.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• Sort movie records using Merge Sort.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• Find keywords with KMP pattern matching.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• Suggest likely titles using Levenshtein edit distance.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• Filter records by language and genre.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• Support dataset maintenance and CSV save/reload.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• Demonstrate advanced DSA concepts through M1–M6 lab examples.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E5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6675"/>
            <a:ext cx="3152775" cy="1350169"/>
            <a:chOff x="0" y="0"/>
            <a:chExt cx="4203700" cy="1800225"/>
          </a:xfrm>
        </p:grpSpPr>
        <p:sp>
          <p:nvSpPr>
            <p:cNvPr name="Freeform 3" id="3" descr="KL University Hyderabad"/>
            <p:cNvSpPr/>
            <p:nvPr/>
          </p:nvSpPr>
          <p:spPr>
            <a:xfrm flipH="false" flipV="false" rot="0">
              <a:off x="0" y="0"/>
              <a:ext cx="4203700" cy="1800225"/>
            </a:xfrm>
            <a:custGeom>
              <a:avLst/>
              <a:gdLst/>
              <a:ahLst/>
              <a:cxnLst/>
              <a:rect r="r" b="b" t="t" l="l"/>
              <a:pathLst>
                <a:path h="1800225" w="4203700">
                  <a:moveTo>
                    <a:pt x="0" y="0"/>
                  </a:moveTo>
                  <a:lnTo>
                    <a:pt x="4203700" y="0"/>
                  </a:lnTo>
                  <a:lnTo>
                    <a:pt x="4203700" y="1800225"/>
                  </a:lnTo>
                  <a:lnTo>
                    <a:pt x="0" y="1800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7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217944"/>
            <a:ext cx="18288000" cy="69056"/>
            <a:chOff x="0" y="0"/>
            <a:chExt cx="24384000" cy="920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92075"/>
            </a:xfrm>
            <a:custGeom>
              <a:avLst/>
              <a:gdLst/>
              <a:ahLst/>
              <a:cxnLst/>
              <a:rect r="r" b="b" t="t" l="l"/>
              <a:pathLst>
                <a:path h="920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2075"/>
                  </a:lnTo>
                  <a:lnTo>
                    <a:pt x="0" y="92075"/>
                  </a:lnTo>
                  <a:close/>
                </a:path>
              </a:pathLst>
            </a:custGeom>
            <a:solidFill>
              <a:srgbClr val="BA253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69056"/>
            <a:chOff x="0" y="0"/>
            <a:chExt cx="24384000" cy="920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92075"/>
            </a:xfrm>
            <a:custGeom>
              <a:avLst/>
              <a:gdLst/>
              <a:ahLst/>
              <a:cxnLst/>
              <a:rect r="r" b="b" t="t" l="l"/>
              <a:pathLst>
                <a:path h="920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2075"/>
                  </a:lnTo>
                  <a:lnTo>
                    <a:pt x="0" y="92075"/>
                  </a:lnTo>
                  <a:close/>
                </a:path>
              </a:pathLst>
            </a:custGeom>
            <a:solidFill>
              <a:srgbClr val="BA253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594642" y="322983"/>
            <a:ext cx="7098725" cy="794899"/>
            <a:chOff x="0" y="0"/>
            <a:chExt cx="9464967" cy="10598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464928" cy="1059942"/>
            </a:xfrm>
            <a:custGeom>
              <a:avLst/>
              <a:gdLst/>
              <a:ahLst/>
              <a:cxnLst/>
              <a:rect r="r" b="b" t="t" l="l"/>
              <a:pathLst>
                <a:path h="1059942" w="9464928">
                  <a:moveTo>
                    <a:pt x="0" y="176657"/>
                  </a:moveTo>
                  <a:cubicBezTo>
                    <a:pt x="0" y="79121"/>
                    <a:pt x="79121" y="0"/>
                    <a:pt x="176657" y="0"/>
                  </a:cubicBezTo>
                  <a:lnTo>
                    <a:pt x="9288272" y="0"/>
                  </a:lnTo>
                  <a:cubicBezTo>
                    <a:pt x="9385808" y="0"/>
                    <a:pt x="9464928" y="79121"/>
                    <a:pt x="9464928" y="176657"/>
                  </a:cubicBezTo>
                  <a:lnTo>
                    <a:pt x="9464928" y="883285"/>
                  </a:lnTo>
                  <a:cubicBezTo>
                    <a:pt x="9464928" y="980821"/>
                    <a:pt x="9385808" y="1059942"/>
                    <a:pt x="9288272" y="1059942"/>
                  </a:cubicBezTo>
                  <a:lnTo>
                    <a:pt x="176657" y="1059942"/>
                  </a:lnTo>
                  <a:cubicBezTo>
                    <a:pt x="79121" y="1059815"/>
                    <a:pt x="0" y="980821"/>
                    <a:pt x="0" y="883285"/>
                  </a:cubicBezTo>
                  <a:close/>
                </a:path>
              </a:pathLst>
            </a:custGeom>
            <a:solidFill>
              <a:srgbClr val="C00000"/>
            </a:solidFill>
            <a:ln w="19050" cap="sq">
              <a:solidFill>
                <a:srgbClr val="172C51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4081548" y="250946"/>
            <a:ext cx="10124904" cy="8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Flow Chart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118032" y="1425892"/>
            <a:ext cx="3594735" cy="741807"/>
            <a:chOff x="0" y="0"/>
            <a:chExt cx="4792980" cy="98907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792980" cy="989076"/>
            </a:xfrm>
            <a:custGeom>
              <a:avLst/>
              <a:gdLst/>
              <a:ahLst/>
              <a:cxnLst/>
              <a:rect r="r" b="b" t="t" l="l"/>
              <a:pathLst>
                <a:path h="989076" w="4792980">
                  <a:moveTo>
                    <a:pt x="0" y="164846"/>
                  </a:moveTo>
                  <a:cubicBezTo>
                    <a:pt x="0" y="73787"/>
                    <a:pt x="73787" y="0"/>
                    <a:pt x="164846" y="0"/>
                  </a:cubicBezTo>
                  <a:lnTo>
                    <a:pt x="4628134" y="0"/>
                  </a:lnTo>
                  <a:cubicBezTo>
                    <a:pt x="4719193" y="0"/>
                    <a:pt x="4792980" y="73787"/>
                    <a:pt x="4792980" y="164846"/>
                  </a:cubicBezTo>
                  <a:lnTo>
                    <a:pt x="4792980" y="824230"/>
                  </a:lnTo>
                  <a:cubicBezTo>
                    <a:pt x="4792980" y="915289"/>
                    <a:pt x="4719193" y="989076"/>
                    <a:pt x="4628134" y="989076"/>
                  </a:cubicBezTo>
                  <a:lnTo>
                    <a:pt x="164846" y="989076"/>
                  </a:lnTo>
                  <a:cubicBezTo>
                    <a:pt x="73787" y="989076"/>
                    <a:pt x="0" y="915289"/>
                    <a:pt x="0" y="824230"/>
                  </a:cubicBezTo>
                  <a:close/>
                </a:path>
              </a:pathLst>
            </a:custGeom>
            <a:solidFill>
              <a:srgbClr val="DCEFE2"/>
            </a:solidFill>
            <a:ln w="28575" cap="sq">
              <a:solidFill>
                <a:srgbClr val="1E7D91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4792980" cy="989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42B5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START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089332" y="2523172"/>
            <a:ext cx="5652135" cy="1098423"/>
            <a:chOff x="0" y="0"/>
            <a:chExt cx="7536180" cy="14645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536180" cy="1464564"/>
            </a:xfrm>
            <a:custGeom>
              <a:avLst/>
              <a:gdLst/>
              <a:ahLst/>
              <a:cxnLst/>
              <a:rect r="r" b="b" t="t" l="l"/>
              <a:pathLst>
                <a:path h="1464564" w="7536180">
                  <a:moveTo>
                    <a:pt x="0" y="244094"/>
                  </a:moveTo>
                  <a:cubicBezTo>
                    <a:pt x="0" y="109347"/>
                    <a:pt x="109347" y="0"/>
                    <a:pt x="244094" y="0"/>
                  </a:cubicBezTo>
                  <a:lnTo>
                    <a:pt x="7292086" y="0"/>
                  </a:lnTo>
                  <a:cubicBezTo>
                    <a:pt x="7426960" y="0"/>
                    <a:pt x="7536180" y="109347"/>
                    <a:pt x="7536180" y="244094"/>
                  </a:cubicBezTo>
                  <a:lnTo>
                    <a:pt x="7536180" y="1220470"/>
                  </a:lnTo>
                  <a:cubicBezTo>
                    <a:pt x="7536180" y="1355344"/>
                    <a:pt x="7426833" y="1464564"/>
                    <a:pt x="7292086" y="1464564"/>
                  </a:cubicBezTo>
                  <a:lnTo>
                    <a:pt x="244094" y="1464564"/>
                  </a:lnTo>
                  <a:cubicBezTo>
                    <a:pt x="109347" y="1464564"/>
                    <a:pt x="0" y="1355217"/>
                    <a:pt x="0" y="1220470"/>
                  </a:cubicBezTo>
                  <a:close/>
                </a:path>
              </a:pathLst>
            </a:custGeom>
            <a:solidFill>
              <a:srgbClr val="EEF4FC"/>
            </a:solidFill>
            <a:ln w="28575" cap="sq">
              <a:solidFill>
                <a:srgbClr val="1955BE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7536180" cy="1464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42B5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Load CSV Dataset</a:t>
              </a:r>
            </a:p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42B5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Build Movie List + HashMap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089332" y="4031933"/>
            <a:ext cx="5652135" cy="920115"/>
            <a:chOff x="0" y="0"/>
            <a:chExt cx="7536180" cy="12268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536180" cy="1226820"/>
            </a:xfrm>
            <a:custGeom>
              <a:avLst/>
              <a:gdLst/>
              <a:ahLst/>
              <a:cxnLst/>
              <a:rect r="r" b="b" t="t" l="l"/>
              <a:pathLst>
                <a:path h="1226820" w="7536180">
                  <a:moveTo>
                    <a:pt x="0" y="204470"/>
                  </a:moveTo>
                  <a:cubicBezTo>
                    <a:pt x="0" y="91567"/>
                    <a:pt x="91567" y="0"/>
                    <a:pt x="204470" y="0"/>
                  </a:cubicBezTo>
                  <a:lnTo>
                    <a:pt x="7331710" y="0"/>
                  </a:lnTo>
                  <a:cubicBezTo>
                    <a:pt x="7444613" y="0"/>
                    <a:pt x="7536180" y="91567"/>
                    <a:pt x="7536180" y="204470"/>
                  </a:cubicBezTo>
                  <a:lnTo>
                    <a:pt x="7536180" y="1022350"/>
                  </a:lnTo>
                  <a:cubicBezTo>
                    <a:pt x="7536180" y="1135253"/>
                    <a:pt x="7444613" y="1226820"/>
                    <a:pt x="7331710" y="1226820"/>
                  </a:cubicBezTo>
                  <a:lnTo>
                    <a:pt x="204470" y="1226820"/>
                  </a:lnTo>
                  <a:cubicBezTo>
                    <a:pt x="91567" y="1226820"/>
                    <a:pt x="0" y="1135253"/>
                    <a:pt x="0" y="1022350"/>
                  </a:cubicBezTo>
                  <a:close/>
                </a:path>
              </a:pathLst>
            </a:custGeom>
            <a:solidFill>
              <a:srgbClr val="EEF4FC"/>
            </a:solidFill>
            <a:ln w="28575" cap="sq">
              <a:solidFill>
                <a:srgbClr val="1955BE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7536180" cy="1226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42B5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User enters query / selects operation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 rot="5090580">
            <a:off x="8703469" y="2335911"/>
            <a:ext cx="423862" cy="0"/>
          </a:xfrm>
          <a:prstGeom prst="line">
            <a:avLst/>
          </a:prstGeom>
          <a:ln cap="rnd" w="19050">
            <a:solidFill>
              <a:srgbClr val="1E7D9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rot="5125980">
            <a:off x="8676132" y="3817239"/>
            <a:ext cx="478526" cy="0"/>
          </a:xfrm>
          <a:prstGeom prst="line">
            <a:avLst/>
          </a:prstGeom>
          <a:ln cap="rnd" w="19050">
            <a:solidFill>
              <a:srgbClr val="1E7D9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808672" y="5677853"/>
            <a:ext cx="3388995" cy="1098423"/>
            <a:chOff x="0" y="0"/>
            <a:chExt cx="4518660" cy="146456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518660" cy="1464564"/>
            </a:xfrm>
            <a:custGeom>
              <a:avLst/>
              <a:gdLst/>
              <a:ahLst/>
              <a:cxnLst/>
              <a:rect r="r" b="b" t="t" l="l"/>
              <a:pathLst>
                <a:path h="1464564" w="4518660">
                  <a:moveTo>
                    <a:pt x="0" y="244094"/>
                  </a:moveTo>
                  <a:cubicBezTo>
                    <a:pt x="0" y="109347"/>
                    <a:pt x="109347" y="0"/>
                    <a:pt x="244094" y="0"/>
                  </a:cubicBezTo>
                  <a:lnTo>
                    <a:pt x="4274566" y="0"/>
                  </a:lnTo>
                  <a:cubicBezTo>
                    <a:pt x="4409440" y="0"/>
                    <a:pt x="4518660" y="109347"/>
                    <a:pt x="4518660" y="244094"/>
                  </a:cubicBezTo>
                  <a:lnTo>
                    <a:pt x="4518660" y="1220470"/>
                  </a:lnTo>
                  <a:cubicBezTo>
                    <a:pt x="4518660" y="1355344"/>
                    <a:pt x="4409313" y="1464564"/>
                    <a:pt x="4274566" y="1464564"/>
                  </a:cubicBezTo>
                  <a:lnTo>
                    <a:pt x="244094" y="1464564"/>
                  </a:lnTo>
                  <a:cubicBezTo>
                    <a:pt x="109347" y="1464564"/>
                    <a:pt x="0" y="1355217"/>
                    <a:pt x="0" y="1220470"/>
                  </a:cubicBezTo>
                  <a:close/>
                </a:path>
              </a:pathLst>
            </a:custGeom>
            <a:solidFill>
              <a:srgbClr val="EEF4FC"/>
            </a:solidFill>
            <a:ln w="28575" cap="sq">
              <a:solidFill>
                <a:srgbClr val="1955BE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4518660" cy="14740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42B5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Exact title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42B5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HashMap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854892" y="5677853"/>
            <a:ext cx="4143375" cy="1098423"/>
            <a:chOff x="0" y="0"/>
            <a:chExt cx="5524500" cy="146456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524500" cy="1464564"/>
            </a:xfrm>
            <a:custGeom>
              <a:avLst/>
              <a:gdLst/>
              <a:ahLst/>
              <a:cxnLst/>
              <a:rect r="r" b="b" t="t" l="l"/>
              <a:pathLst>
                <a:path h="1464564" w="5524500">
                  <a:moveTo>
                    <a:pt x="0" y="244094"/>
                  </a:moveTo>
                  <a:cubicBezTo>
                    <a:pt x="0" y="109347"/>
                    <a:pt x="109347" y="0"/>
                    <a:pt x="244094" y="0"/>
                  </a:cubicBezTo>
                  <a:lnTo>
                    <a:pt x="5280406" y="0"/>
                  </a:lnTo>
                  <a:cubicBezTo>
                    <a:pt x="5415153" y="0"/>
                    <a:pt x="5524500" y="109347"/>
                    <a:pt x="5524500" y="244094"/>
                  </a:cubicBezTo>
                  <a:lnTo>
                    <a:pt x="5524500" y="1220470"/>
                  </a:lnTo>
                  <a:cubicBezTo>
                    <a:pt x="5524500" y="1355344"/>
                    <a:pt x="5415153" y="1464564"/>
                    <a:pt x="5280406" y="1464564"/>
                  </a:cubicBezTo>
                  <a:lnTo>
                    <a:pt x="244094" y="1464564"/>
                  </a:lnTo>
                  <a:cubicBezTo>
                    <a:pt x="109347" y="1464564"/>
                    <a:pt x="0" y="1355217"/>
                    <a:pt x="0" y="1220470"/>
                  </a:cubicBezTo>
                  <a:close/>
                </a:path>
              </a:pathLst>
            </a:custGeom>
            <a:solidFill>
              <a:srgbClr val="EEF4FC"/>
            </a:solidFill>
            <a:ln w="28575" cap="sq">
              <a:solidFill>
                <a:srgbClr val="1955BE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5524500" cy="1464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42B5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Sorted title</a:t>
              </a:r>
            </a:p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42B5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Merge Sort + Binary Search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655493" y="5677853"/>
            <a:ext cx="3114675" cy="1098423"/>
            <a:chOff x="0" y="0"/>
            <a:chExt cx="4152900" cy="146456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152900" cy="1464564"/>
            </a:xfrm>
            <a:custGeom>
              <a:avLst/>
              <a:gdLst/>
              <a:ahLst/>
              <a:cxnLst/>
              <a:rect r="r" b="b" t="t" l="l"/>
              <a:pathLst>
                <a:path h="1464564" w="4152900">
                  <a:moveTo>
                    <a:pt x="0" y="244094"/>
                  </a:moveTo>
                  <a:cubicBezTo>
                    <a:pt x="0" y="109347"/>
                    <a:pt x="109347" y="0"/>
                    <a:pt x="244094" y="0"/>
                  </a:cubicBezTo>
                  <a:lnTo>
                    <a:pt x="3908806" y="0"/>
                  </a:lnTo>
                  <a:cubicBezTo>
                    <a:pt x="4043553" y="0"/>
                    <a:pt x="4152900" y="109347"/>
                    <a:pt x="4152900" y="244094"/>
                  </a:cubicBezTo>
                  <a:lnTo>
                    <a:pt x="4152900" y="1220470"/>
                  </a:lnTo>
                  <a:cubicBezTo>
                    <a:pt x="4152900" y="1355344"/>
                    <a:pt x="4043553" y="1464564"/>
                    <a:pt x="3908806" y="1464564"/>
                  </a:cubicBezTo>
                  <a:lnTo>
                    <a:pt x="244094" y="1464564"/>
                  </a:lnTo>
                  <a:cubicBezTo>
                    <a:pt x="109347" y="1464564"/>
                    <a:pt x="0" y="1355217"/>
                    <a:pt x="0" y="1220470"/>
                  </a:cubicBezTo>
                  <a:close/>
                </a:path>
              </a:pathLst>
            </a:custGeom>
            <a:solidFill>
              <a:srgbClr val="EEF4FC"/>
            </a:solidFill>
            <a:ln w="28575" cap="sq">
              <a:solidFill>
                <a:srgbClr val="1955BE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4152900" cy="14740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42B5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Keyword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42B5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KMP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427393" y="5677853"/>
            <a:ext cx="3869055" cy="1098423"/>
            <a:chOff x="0" y="0"/>
            <a:chExt cx="5158740" cy="146456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158740" cy="1464564"/>
            </a:xfrm>
            <a:custGeom>
              <a:avLst/>
              <a:gdLst/>
              <a:ahLst/>
              <a:cxnLst/>
              <a:rect r="r" b="b" t="t" l="l"/>
              <a:pathLst>
                <a:path h="1464564" w="5158740">
                  <a:moveTo>
                    <a:pt x="0" y="244094"/>
                  </a:moveTo>
                  <a:cubicBezTo>
                    <a:pt x="0" y="109347"/>
                    <a:pt x="109347" y="0"/>
                    <a:pt x="244094" y="0"/>
                  </a:cubicBezTo>
                  <a:lnTo>
                    <a:pt x="4914646" y="0"/>
                  </a:lnTo>
                  <a:cubicBezTo>
                    <a:pt x="5049520" y="0"/>
                    <a:pt x="5158740" y="109347"/>
                    <a:pt x="5158740" y="244094"/>
                  </a:cubicBezTo>
                  <a:lnTo>
                    <a:pt x="5158740" y="1220470"/>
                  </a:lnTo>
                  <a:cubicBezTo>
                    <a:pt x="5158740" y="1355344"/>
                    <a:pt x="5049393" y="1464564"/>
                    <a:pt x="4914646" y="1464564"/>
                  </a:cubicBezTo>
                  <a:lnTo>
                    <a:pt x="244094" y="1464564"/>
                  </a:lnTo>
                  <a:cubicBezTo>
                    <a:pt x="109347" y="1464564"/>
                    <a:pt x="0" y="1355217"/>
                    <a:pt x="0" y="1220470"/>
                  </a:cubicBezTo>
                  <a:close/>
                </a:path>
              </a:pathLst>
            </a:custGeom>
            <a:solidFill>
              <a:srgbClr val="EEF4FC"/>
            </a:solidFill>
            <a:ln w="28575" cap="sq">
              <a:solidFill>
                <a:srgbClr val="1955BE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5158740" cy="14740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42B5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Approximate title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42B5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Levenshtein</a:t>
              </a:r>
            </a:p>
          </p:txBody>
        </p:sp>
      </p:grpSp>
      <p:sp>
        <p:nvSpPr>
          <p:cNvPr name="AutoShape 34" id="34"/>
          <p:cNvSpPr/>
          <p:nvPr/>
        </p:nvSpPr>
        <p:spPr>
          <a:xfrm rot="10380180">
            <a:off x="2453040" y="5305425"/>
            <a:ext cx="6505632" cy="0"/>
          </a:xfrm>
          <a:prstGeom prst="line">
            <a:avLst/>
          </a:prstGeom>
          <a:ln cap="rnd" w="19050">
            <a:solidFill>
              <a:srgbClr val="1E7D9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 rot="9518760">
            <a:off x="6832825" y="5305425"/>
            <a:ext cx="2176329" cy="0"/>
          </a:xfrm>
          <a:prstGeom prst="line">
            <a:avLst/>
          </a:prstGeom>
          <a:ln cap="rnd" w="19050">
            <a:solidFill>
              <a:srgbClr val="1E7D9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 rot="1127640">
            <a:off x="8830770" y="5305425"/>
            <a:ext cx="2459822" cy="0"/>
          </a:xfrm>
          <a:prstGeom prst="line">
            <a:avLst/>
          </a:prstGeom>
          <a:ln cap="rnd" w="19050">
            <a:solidFill>
              <a:srgbClr val="1E7D9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 rot="418080">
            <a:off x="8872223" y="5305425"/>
            <a:ext cx="6532864" cy="0"/>
          </a:xfrm>
          <a:prstGeom prst="line">
            <a:avLst/>
          </a:prstGeom>
          <a:ln cap="rnd" w="19050">
            <a:solidFill>
              <a:srgbClr val="1E7D9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8" id="38"/>
          <p:cNvGrpSpPr/>
          <p:nvPr/>
        </p:nvGrpSpPr>
        <p:grpSpPr>
          <a:xfrm rot="0">
            <a:off x="5129212" y="7598093"/>
            <a:ext cx="7572375" cy="961263"/>
            <a:chOff x="0" y="0"/>
            <a:chExt cx="10096500" cy="128168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096500" cy="1281684"/>
            </a:xfrm>
            <a:custGeom>
              <a:avLst/>
              <a:gdLst/>
              <a:ahLst/>
              <a:cxnLst/>
              <a:rect r="r" b="b" t="t" l="l"/>
              <a:pathLst>
                <a:path h="1281684" w="10096500">
                  <a:moveTo>
                    <a:pt x="0" y="213614"/>
                  </a:moveTo>
                  <a:cubicBezTo>
                    <a:pt x="0" y="95631"/>
                    <a:pt x="95631" y="0"/>
                    <a:pt x="213614" y="0"/>
                  </a:cubicBezTo>
                  <a:lnTo>
                    <a:pt x="9882886" y="0"/>
                  </a:lnTo>
                  <a:cubicBezTo>
                    <a:pt x="10000869" y="0"/>
                    <a:pt x="10096500" y="95631"/>
                    <a:pt x="10096500" y="213614"/>
                  </a:cubicBezTo>
                  <a:lnTo>
                    <a:pt x="10096500" y="1068070"/>
                  </a:lnTo>
                  <a:cubicBezTo>
                    <a:pt x="10096500" y="1186053"/>
                    <a:pt x="10000869" y="1281684"/>
                    <a:pt x="9882886" y="1281684"/>
                  </a:cubicBezTo>
                  <a:lnTo>
                    <a:pt x="213614" y="1281684"/>
                  </a:lnTo>
                  <a:cubicBezTo>
                    <a:pt x="95631" y="1281684"/>
                    <a:pt x="0" y="1186053"/>
                    <a:pt x="0" y="1068070"/>
                  </a:cubicBezTo>
                  <a:close/>
                </a:path>
              </a:pathLst>
            </a:custGeom>
            <a:solidFill>
              <a:srgbClr val="DCEFE2"/>
            </a:solidFill>
            <a:ln w="28575" cap="sq">
              <a:solidFill>
                <a:srgbClr val="1E7D91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10096500" cy="12912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42B5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Display results / update dataset / save CSV</a:t>
              </a:r>
            </a:p>
          </p:txBody>
        </p:sp>
      </p:grpSp>
      <p:sp>
        <p:nvSpPr>
          <p:cNvPr name="AutoShape 41" id="41"/>
          <p:cNvSpPr/>
          <p:nvPr/>
        </p:nvSpPr>
        <p:spPr>
          <a:xfrm rot="470100">
            <a:off x="2446839" y="7177659"/>
            <a:ext cx="6518024" cy="0"/>
          </a:xfrm>
          <a:prstGeom prst="line">
            <a:avLst/>
          </a:prstGeom>
          <a:ln cap="rnd" w="19050">
            <a:solidFill>
              <a:srgbClr val="1E7D9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2" id="42"/>
          <p:cNvSpPr/>
          <p:nvPr/>
        </p:nvSpPr>
        <p:spPr>
          <a:xfrm rot="1420200">
            <a:off x="6814442" y="7177659"/>
            <a:ext cx="2213105" cy="0"/>
          </a:xfrm>
          <a:prstGeom prst="line">
            <a:avLst/>
          </a:prstGeom>
          <a:ln cap="rnd" w="19050">
            <a:solidFill>
              <a:srgbClr val="1E7D9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3" id="43"/>
          <p:cNvSpPr/>
          <p:nvPr/>
        </p:nvSpPr>
        <p:spPr>
          <a:xfrm rot="9546960">
            <a:off x="8814483" y="7177659"/>
            <a:ext cx="2492416" cy="0"/>
          </a:xfrm>
          <a:prstGeom prst="line">
            <a:avLst/>
          </a:prstGeom>
          <a:ln cap="rnd" w="19050">
            <a:solidFill>
              <a:srgbClr val="1E7D9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4" id="44"/>
          <p:cNvSpPr/>
          <p:nvPr/>
        </p:nvSpPr>
        <p:spPr>
          <a:xfrm rot="10331880">
            <a:off x="8866060" y="7177659"/>
            <a:ext cx="6545209" cy="0"/>
          </a:xfrm>
          <a:prstGeom prst="line">
            <a:avLst/>
          </a:prstGeom>
          <a:ln cap="rnd" w="19050">
            <a:solidFill>
              <a:srgbClr val="1E7D9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5" id="45"/>
          <p:cNvGrpSpPr/>
          <p:nvPr/>
        </p:nvGrpSpPr>
        <p:grpSpPr>
          <a:xfrm rot="0">
            <a:off x="6432232" y="8832532"/>
            <a:ext cx="4966335" cy="645795"/>
            <a:chOff x="0" y="0"/>
            <a:chExt cx="6621780" cy="86106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621780" cy="861060"/>
            </a:xfrm>
            <a:custGeom>
              <a:avLst/>
              <a:gdLst/>
              <a:ahLst/>
              <a:cxnLst/>
              <a:rect r="r" b="b" t="t" l="l"/>
              <a:pathLst>
                <a:path h="861060" w="6621780">
                  <a:moveTo>
                    <a:pt x="0" y="143510"/>
                  </a:moveTo>
                  <a:cubicBezTo>
                    <a:pt x="0" y="64262"/>
                    <a:pt x="64262" y="0"/>
                    <a:pt x="143510" y="0"/>
                  </a:cubicBezTo>
                  <a:lnTo>
                    <a:pt x="6478270" y="0"/>
                  </a:lnTo>
                  <a:cubicBezTo>
                    <a:pt x="6557518" y="0"/>
                    <a:pt x="6621780" y="64262"/>
                    <a:pt x="6621780" y="143510"/>
                  </a:cubicBezTo>
                  <a:lnTo>
                    <a:pt x="6621780" y="717550"/>
                  </a:lnTo>
                  <a:cubicBezTo>
                    <a:pt x="6621780" y="796798"/>
                    <a:pt x="6557518" y="861060"/>
                    <a:pt x="6478270" y="861060"/>
                  </a:cubicBezTo>
                  <a:lnTo>
                    <a:pt x="143510" y="861060"/>
                  </a:lnTo>
                  <a:cubicBezTo>
                    <a:pt x="64262" y="861060"/>
                    <a:pt x="0" y="796798"/>
                    <a:pt x="0" y="717550"/>
                  </a:cubicBezTo>
                  <a:close/>
                </a:path>
              </a:pathLst>
            </a:custGeom>
            <a:solidFill>
              <a:srgbClr val="FAEDDA"/>
            </a:solidFill>
            <a:ln w="28575" cap="sq">
              <a:solidFill>
                <a:srgbClr val="1E7D91"/>
              </a:solidFill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6621780" cy="8610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42B5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END / Return to menu</a:t>
              </a:r>
            </a:p>
          </p:txBody>
        </p:sp>
      </p:grpSp>
      <p:sp>
        <p:nvSpPr>
          <p:cNvPr name="AutoShape 48" id="48"/>
          <p:cNvSpPr/>
          <p:nvPr/>
        </p:nvSpPr>
        <p:spPr>
          <a:xfrm rot="5016180">
            <a:off x="8744407" y="8686419"/>
            <a:ext cx="341986" cy="0"/>
          </a:xfrm>
          <a:prstGeom prst="line">
            <a:avLst/>
          </a:prstGeom>
          <a:ln cap="rnd" w="19050">
            <a:solidFill>
              <a:srgbClr val="1E7D91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E5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6675"/>
            <a:ext cx="3152775" cy="1350169"/>
            <a:chOff x="0" y="0"/>
            <a:chExt cx="4203700" cy="1800225"/>
          </a:xfrm>
        </p:grpSpPr>
        <p:sp>
          <p:nvSpPr>
            <p:cNvPr name="Freeform 3" id="3" descr="KL University Hyderabad"/>
            <p:cNvSpPr/>
            <p:nvPr/>
          </p:nvSpPr>
          <p:spPr>
            <a:xfrm flipH="false" flipV="false" rot="0">
              <a:off x="0" y="0"/>
              <a:ext cx="4203700" cy="1800225"/>
            </a:xfrm>
            <a:custGeom>
              <a:avLst/>
              <a:gdLst/>
              <a:ahLst/>
              <a:cxnLst/>
              <a:rect r="r" b="b" t="t" l="l"/>
              <a:pathLst>
                <a:path h="1800225" w="4203700">
                  <a:moveTo>
                    <a:pt x="0" y="0"/>
                  </a:moveTo>
                  <a:lnTo>
                    <a:pt x="4203700" y="0"/>
                  </a:lnTo>
                  <a:lnTo>
                    <a:pt x="4203700" y="1800225"/>
                  </a:lnTo>
                  <a:lnTo>
                    <a:pt x="0" y="1800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7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217944"/>
            <a:ext cx="18288000" cy="69056"/>
            <a:chOff x="0" y="0"/>
            <a:chExt cx="24384000" cy="920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92075"/>
            </a:xfrm>
            <a:custGeom>
              <a:avLst/>
              <a:gdLst/>
              <a:ahLst/>
              <a:cxnLst/>
              <a:rect r="r" b="b" t="t" l="l"/>
              <a:pathLst>
                <a:path h="920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2075"/>
                  </a:lnTo>
                  <a:lnTo>
                    <a:pt x="0" y="92075"/>
                  </a:lnTo>
                  <a:close/>
                </a:path>
              </a:pathLst>
            </a:custGeom>
            <a:solidFill>
              <a:srgbClr val="BA253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69056"/>
            <a:chOff x="0" y="0"/>
            <a:chExt cx="24384000" cy="920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92075"/>
            </a:xfrm>
            <a:custGeom>
              <a:avLst/>
              <a:gdLst/>
              <a:ahLst/>
              <a:cxnLst/>
              <a:rect r="r" b="b" t="t" l="l"/>
              <a:pathLst>
                <a:path h="920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2075"/>
                  </a:lnTo>
                  <a:lnTo>
                    <a:pt x="0" y="92075"/>
                  </a:lnTo>
                  <a:close/>
                </a:path>
              </a:pathLst>
            </a:custGeom>
            <a:solidFill>
              <a:srgbClr val="BA253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594642" y="322983"/>
            <a:ext cx="7098725" cy="794899"/>
            <a:chOff x="0" y="0"/>
            <a:chExt cx="9464967" cy="10598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464928" cy="1059942"/>
            </a:xfrm>
            <a:custGeom>
              <a:avLst/>
              <a:gdLst/>
              <a:ahLst/>
              <a:cxnLst/>
              <a:rect r="r" b="b" t="t" l="l"/>
              <a:pathLst>
                <a:path h="1059942" w="9464928">
                  <a:moveTo>
                    <a:pt x="0" y="176657"/>
                  </a:moveTo>
                  <a:cubicBezTo>
                    <a:pt x="0" y="79121"/>
                    <a:pt x="79121" y="0"/>
                    <a:pt x="176657" y="0"/>
                  </a:cubicBezTo>
                  <a:lnTo>
                    <a:pt x="9288272" y="0"/>
                  </a:lnTo>
                  <a:cubicBezTo>
                    <a:pt x="9385808" y="0"/>
                    <a:pt x="9464928" y="79121"/>
                    <a:pt x="9464928" y="176657"/>
                  </a:cubicBezTo>
                  <a:lnTo>
                    <a:pt x="9464928" y="883285"/>
                  </a:lnTo>
                  <a:cubicBezTo>
                    <a:pt x="9464928" y="980821"/>
                    <a:pt x="9385808" y="1059942"/>
                    <a:pt x="9288272" y="1059942"/>
                  </a:cubicBezTo>
                  <a:lnTo>
                    <a:pt x="176657" y="1059942"/>
                  </a:lnTo>
                  <a:cubicBezTo>
                    <a:pt x="79121" y="1059815"/>
                    <a:pt x="0" y="980821"/>
                    <a:pt x="0" y="883285"/>
                  </a:cubicBezTo>
                  <a:close/>
                </a:path>
              </a:pathLst>
            </a:custGeom>
            <a:solidFill>
              <a:srgbClr val="C00000"/>
            </a:solidFill>
            <a:ln w="19050" cap="sq">
              <a:solidFill>
                <a:srgbClr val="172C51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4081548" y="250946"/>
            <a:ext cx="10124904" cy="8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Results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505325" y="1416844"/>
            <a:ext cx="12249619" cy="685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Core algorithm execution (actual console output)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• Dataset loaded successfully: 61 records; HashMap contains 61 title keys.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• HashMap: exact search for “Dangal” returned the movie record.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• Binary Search: “Dangal” found at sorted index 17 after sorting.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• KMP: keyword “kidnapping” matched the description of “Brochevarevarura”.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• Levenshtein: “Dangl” matched “Dangal” with edit distance 1 and similarity 83.3%.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• Merge Sort: sorted the movie titles alphabetically and by release year.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Advanced DSA-3 lab (M1–M6)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• String algorithms, dynamic programming, network-flow algorithms, approximation, primality testing and randomized/parallel demonstrations ran successfully.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E5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6675"/>
            <a:ext cx="3152775" cy="1350169"/>
            <a:chOff x="0" y="0"/>
            <a:chExt cx="4203700" cy="1800225"/>
          </a:xfrm>
        </p:grpSpPr>
        <p:sp>
          <p:nvSpPr>
            <p:cNvPr name="Freeform 3" id="3" descr="KL University Hyderabad"/>
            <p:cNvSpPr/>
            <p:nvPr/>
          </p:nvSpPr>
          <p:spPr>
            <a:xfrm flipH="false" flipV="false" rot="0">
              <a:off x="0" y="0"/>
              <a:ext cx="4203700" cy="1800225"/>
            </a:xfrm>
            <a:custGeom>
              <a:avLst/>
              <a:gdLst/>
              <a:ahLst/>
              <a:cxnLst/>
              <a:rect r="r" b="b" t="t" l="l"/>
              <a:pathLst>
                <a:path h="1800225" w="4203700">
                  <a:moveTo>
                    <a:pt x="0" y="0"/>
                  </a:moveTo>
                  <a:lnTo>
                    <a:pt x="4203700" y="0"/>
                  </a:lnTo>
                  <a:lnTo>
                    <a:pt x="4203700" y="1800225"/>
                  </a:lnTo>
                  <a:lnTo>
                    <a:pt x="0" y="1800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7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217944"/>
            <a:ext cx="18288000" cy="69056"/>
            <a:chOff x="0" y="0"/>
            <a:chExt cx="24384000" cy="920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92075"/>
            </a:xfrm>
            <a:custGeom>
              <a:avLst/>
              <a:gdLst/>
              <a:ahLst/>
              <a:cxnLst/>
              <a:rect r="r" b="b" t="t" l="l"/>
              <a:pathLst>
                <a:path h="920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2075"/>
                  </a:lnTo>
                  <a:lnTo>
                    <a:pt x="0" y="92075"/>
                  </a:lnTo>
                  <a:close/>
                </a:path>
              </a:pathLst>
            </a:custGeom>
            <a:solidFill>
              <a:srgbClr val="BA253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69056"/>
            <a:chOff x="0" y="0"/>
            <a:chExt cx="24384000" cy="920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92075"/>
            </a:xfrm>
            <a:custGeom>
              <a:avLst/>
              <a:gdLst/>
              <a:ahLst/>
              <a:cxnLst/>
              <a:rect r="r" b="b" t="t" l="l"/>
              <a:pathLst>
                <a:path h="920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2075"/>
                  </a:lnTo>
                  <a:lnTo>
                    <a:pt x="0" y="92075"/>
                  </a:lnTo>
                  <a:close/>
                </a:path>
              </a:pathLst>
            </a:custGeom>
            <a:solidFill>
              <a:srgbClr val="BA253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72036" y="383534"/>
            <a:ext cx="9648968" cy="924973"/>
            <a:chOff x="0" y="0"/>
            <a:chExt cx="12865290" cy="12332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65354" cy="1233297"/>
            </a:xfrm>
            <a:custGeom>
              <a:avLst/>
              <a:gdLst/>
              <a:ahLst/>
              <a:cxnLst/>
              <a:rect r="r" b="b" t="t" l="l"/>
              <a:pathLst>
                <a:path h="1233297" w="12865354">
                  <a:moveTo>
                    <a:pt x="0" y="205613"/>
                  </a:moveTo>
                  <a:cubicBezTo>
                    <a:pt x="0" y="92075"/>
                    <a:pt x="92075" y="0"/>
                    <a:pt x="205613" y="0"/>
                  </a:cubicBezTo>
                  <a:lnTo>
                    <a:pt x="12659741" y="0"/>
                  </a:lnTo>
                  <a:cubicBezTo>
                    <a:pt x="12773279" y="0"/>
                    <a:pt x="12865354" y="92075"/>
                    <a:pt x="12865354" y="205613"/>
                  </a:cubicBezTo>
                  <a:lnTo>
                    <a:pt x="12865354" y="1027684"/>
                  </a:lnTo>
                  <a:cubicBezTo>
                    <a:pt x="12865354" y="1141222"/>
                    <a:pt x="12773279" y="1233297"/>
                    <a:pt x="12659741" y="1233297"/>
                  </a:cubicBezTo>
                  <a:lnTo>
                    <a:pt x="205613" y="1233297"/>
                  </a:lnTo>
                  <a:cubicBezTo>
                    <a:pt x="92075" y="1233297"/>
                    <a:pt x="0" y="1141222"/>
                    <a:pt x="0" y="1027684"/>
                  </a:cubicBezTo>
                  <a:close/>
                </a:path>
              </a:pathLst>
            </a:custGeom>
            <a:solidFill>
              <a:srgbClr val="C00000"/>
            </a:solidFill>
            <a:ln w="19050" cap="sq">
              <a:solidFill>
                <a:srgbClr val="172C51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5413200" y="413604"/>
            <a:ext cx="10124904" cy="779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Hardware and Software requirements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505325" y="1622831"/>
            <a:ext cx="10988427" cy="647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Hardware Requirements</a:t>
            </a: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• Laptop or desktop computer</a:t>
            </a: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• Intel Core i3 / equivalent processor or better</a:t>
            </a: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• 4 GB RAM or more</a:t>
            </a: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• Approximately 500 MB free storage</a:t>
            </a:r>
          </a:p>
          <a:p>
            <a:pPr algn="l">
              <a:lnSpc>
                <a:spcPts val="3060"/>
              </a:lnSpc>
            </a:pP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Software Requirements</a:t>
            </a: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• Java Development Kit (JDK)</a:t>
            </a: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• Visual Studio Code or another Java IDE</a:t>
            </a: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• CSV dataset file</a:t>
            </a: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• macOS / Windows / Linux</a:t>
            </a:r>
          </a:p>
          <a:p>
            <a:pPr algn="l">
              <a:lnSpc>
                <a:spcPts val="3060"/>
              </a:lnSpc>
            </a:pP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Data Structures and Algorithms</a:t>
            </a: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• HashMap, ArrayList, Merge Sort, Binary Search</a:t>
            </a: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• Knuth–Morris–Pratt (KMP), Levenshtein distance</a:t>
            </a: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• Advanced lab demos: Z-function, Rabin–Karp, Aho–Corasick, suffix array/LCP, DP, max-flow, approximation and randomized algorithms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E5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6675"/>
            <a:ext cx="3152775" cy="1350169"/>
            <a:chOff x="0" y="0"/>
            <a:chExt cx="4203700" cy="1800225"/>
          </a:xfrm>
        </p:grpSpPr>
        <p:sp>
          <p:nvSpPr>
            <p:cNvPr name="Freeform 3" id="3" descr="KL University Hyderabad"/>
            <p:cNvSpPr/>
            <p:nvPr/>
          </p:nvSpPr>
          <p:spPr>
            <a:xfrm flipH="false" flipV="false" rot="0">
              <a:off x="0" y="0"/>
              <a:ext cx="4203700" cy="1800225"/>
            </a:xfrm>
            <a:custGeom>
              <a:avLst/>
              <a:gdLst/>
              <a:ahLst/>
              <a:cxnLst/>
              <a:rect r="r" b="b" t="t" l="l"/>
              <a:pathLst>
                <a:path h="1800225" w="4203700">
                  <a:moveTo>
                    <a:pt x="0" y="0"/>
                  </a:moveTo>
                  <a:lnTo>
                    <a:pt x="4203700" y="0"/>
                  </a:lnTo>
                  <a:lnTo>
                    <a:pt x="4203700" y="1800225"/>
                  </a:lnTo>
                  <a:lnTo>
                    <a:pt x="0" y="1800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7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217944"/>
            <a:ext cx="18288000" cy="69056"/>
            <a:chOff x="0" y="0"/>
            <a:chExt cx="24384000" cy="920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92075"/>
            </a:xfrm>
            <a:custGeom>
              <a:avLst/>
              <a:gdLst/>
              <a:ahLst/>
              <a:cxnLst/>
              <a:rect r="r" b="b" t="t" l="l"/>
              <a:pathLst>
                <a:path h="920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2075"/>
                  </a:lnTo>
                  <a:lnTo>
                    <a:pt x="0" y="92075"/>
                  </a:lnTo>
                  <a:close/>
                </a:path>
              </a:pathLst>
            </a:custGeom>
            <a:solidFill>
              <a:srgbClr val="BA253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69056"/>
            <a:chOff x="0" y="0"/>
            <a:chExt cx="24384000" cy="920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92075"/>
            </a:xfrm>
            <a:custGeom>
              <a:avLst/>
              <a:gdLst/>
              <a:ahLst/>
              <a:cxnLst/>
              <a:rect r="r" b="b" t="t" l="l"/>
              <a:pathLst>
                <a:path h="920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2075"/>
                  </a:lnTo>
                  <a:lnTo>
                    <a:pt x="0" y="92075"/>
                  </a:lnTo>
                  <a:close/>
                </a:path>
              </a:pathLst>
            </a:custGeom>
            <a:solidFill>
              <a:srgbClr val="BA253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594642" y="322983"/>
            <a:ext cx="7098725" cy="794899"/>
            <a:chOff x="0" y="0"/>
            <a:chExt cx="9464967" cy="10598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464928" cy="1059942"/>
            </a:xfrm>
            <a:custGeom>
              <a:avLst/>
              <a:gdLst/>
              <a:ahLst/>
              <a:cxnLst/>
              <a:rect r="r" b="b" t="t" l="l"/>
              <a:pathLst>
                <a:path h="1059942" w="9464928">
                  <a:moveTo>
                    <a:pt x="0" y="176657"/>
                  </a:moveTo>
                  <a:cubicBezTo>
                    <a:pt x="0" y="79121"/>
                    <a:pt x="79121" y="0"/>
                    <a:pt x="176657" y="0"/>
                  </a:cubicBezTo>
                  <a:lnTo>
                    <a:pt x="9288272" y="0"/>
                  </a:lnTo>
                  <a:cubicBezTo>
                    <a:pt x="9385808" y="0"/>
                    <a:pt x="9464928" y="79121"/>
                    <a:pt x="9464928" y="176657"/>
                  </a:cubicBezTo>
                  <a:lnTo>
                    <a:pt x="9464928" y="883285"/>
                  </a:lnTo>
                  <a:cubicBezTo>
                    <a:pt x="9464928" y="980821"/>
                    <a:pt x="9385808" y="1059942"/>
                    <a:pt x="9288272" y="1059942"/>
                  </a:cubicBezTo>
                  <a:lnTo>
                    <a:pt x="176657" y="1059942"/>
                  </a:lnTo>
                  <a:cubicBezTo>
                    <a:pt x="79121" y="1059815"/>
                    <a:pt x="0" y="980821"/>
                    <a:pt x="0" y="883285"/>
                  </a:cubicBezTo>
                  <a:close/>
                </a:path>
              </a:pathLst>
            </a:custGeom>
            <a:solidFill>
              <a:srgbClr val="C00000"/>
            </a:solidFill>
            <a:ln w="19050" cap="sq">
              <a:solidFill>
                <a:srgbClr val="172C51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4081548" y="241849"/>
            <a:ext cx="10124904" cy="8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Conclusion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524375" y="1818446"/>
            <a:ext cx="11778571" cy="600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MovieFlix demonstrates the practical use of core DSA techniques in a movie-search application.</a:t>
            </a:r>
          </a:p>
          <a:p>
            <a:pPr algn="l">
              <a:lnSpc>
                <a:spcPts val="3419"/>
              </a:lnSpc>
            </a:pP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• HashMap enables fast exact-title lookup.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• Merge Sort organizes movie records; Binary Search searches sorted titles.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• KMP finds keywords in movie text.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• Levenshtein distance supports approximate-title matching.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• CSV operations allow movie records to be added, updated, deleted, saved and reloaded.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• The advanced M1–M6 menu provides additional algorithm demonstrations.</a:t>
            </a:r>
          </a:p>
          <a:p>
            <a:pPr algn="l">
              <a:lnSpc>
                <a:spcPts val="3419"/>
              </a:lnSpc>
            </a:pP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The project connects algorithm concepts with an executable Java application.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E5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6675"/>
            <a:ext cx="3152775" cy="1350169"/>
            <a:chOff x="0" y="0"/>
            <a:chExt cx="4203700" cy="1800225"/>
          </a:xfrm>
        </p:grpSpPr>
        <p:sp>
          <p:nvSpPr>
            <p:cNvPr name="Freeform 3" id="3" descr="KL University Hyderabad"/>
            <p:cNvSpPr/>
            <p:nvPr/>
          </p:nvSpPr>
          <p:spPr>
            <a:xfrm flipH="false" flipV="false" rot="0">
              <a:off x="0" y="0"/>
              <a:ext cx="4203700" cy="1800225"/>
            </a:xfrm>
            <a:custGeom>
              <a:avLst/>
              <a:gdLst/>
              <a:ahLst/>
              <a:cxnLst/>
              <a:rect r="r" b="b" t="t" l="l"/>
              <a:pathLst>
                <a:path h="1800225" w="4203700">
                  <a:moveTo>
                    <a:pt x="0" y="0"/>
                  </a:moveTo>
                  <a:lnTo>
                    <a:pt x="4203700" y="0"/>
                  </a:lnTo>
                  <a:lnTo>
                    <a:pt x="4203700" y="1800225"/>
                  </a:lnTo>
                  <a:lnTo>
                    <a:pt x="0" y="1800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7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217944"/>
            <a:ext cx="18288000" cy="69056"/>
            <a:chOff x="0" y="0"/>
            <a:chExt cx="24384000" cy="920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92075"/>
            </a:xfrm>
            <a:custGeom>
              <a:avLst/>
              <a:gdLst/>
              <a:ahLst/>
              <a:cxnLst/>
              <a:rect r="r" b="b" t="t" l="l"/>
              <a:pathLst>
                <a:path h="920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2075"/>
                  </a:lnTo>
                  <a:lnTo>
                    <a:pt x="0" y="92075"/>
                  </a:lnTo>
                  <a:close/>
                </a:path>
              </a:pathLst>
            </a:custGeom>
            <a:solidFill>
              <a:srgbClr val="BA253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69056"/>
            <a:chOff x="0" y="0"/>
            <a:chExt cx="24384000" cy="920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92075"/>
            </a:xfrm>
            <a:custGeom>
              <a:avLst/>
              <a:gdLst/>
              <a:ahLst/>
              <a:cxnLst/>
              <a:rect r="r" b="b" t="t" l="l"/>
              <a:pathLst>
                <a:path h="920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2075"/>
                  </a:lnTo>
                  <a:lnTo>
                    <a:pt x="0" y="92075"/>
                  </a:lnTo>
                  <a:close/>
                </a:path>
              </a:pathLst>
            </a:custGeom>
            <a:solidFill>
              <a:srgbClr val="BA253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594642" y="322983"/>
            <a:ext cx="7098725" cy="794899"/>
            <a:chOff x="0" y="0"/>
            <a:chExt cx="9464967" cy="10598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464928" cy="1059942"/>
            </a:xfrm>
            <a:custGeom>
              <a:avLst/>
              <a:gdLst/>
              <a:ahLst/>
              <a:cxnLst/>
              <a:rect r="r" b="b" t="t" l="l"/>
              <a:pathLst>
                <a:path h="1059942" w="9464928">
                  <a:moveTo>
                    <a:pt x="0" y="176657"/>
                  </a:moveTo>
                  <a:cubicBezTo>
                    <a:pt x="0" y="79121"/>
                    <a:pt x="79121" y="0"/>
                    <a:pt x="176657" y="0"/>
                  </a:cubicBezTo>
                  <a:lnTo>
                    <a:pt x="9288272" y="0"/>
                  </a:lnTo>
                  <a:cubicBezTo>
                    <a:pt x="9385808" y="0"/>
                    <a:pt x="9464928" y="79121"/>
                    <a:pt x="9464928" y="176657"/>
                  </a:cubicBezTo>
                  <a:lnTo>
                    <a:pt x="9464928" y="883285"/>
                  </a:lnTo>
                  <a:cubicBezTo>
                    <a:pt x="9464928" y="980821"/>
                    <a:pt x="9385808" y="1059942"/>
                    <a:pt x="9288272" y="1059942"/>
                  </a:cubicBezTo>
                  <a:lnTo>
                    <a:pt x="176657" y="1059942"/>
                  </a:lnTo>
                  <a:cubicBezTo>
                    <a:pt x="79121" y="1059815"/>
                    <a:pt x="0" y="980821"/>
                    <a:pt x="0" y="883285"/>
                  </a:cubicBezTo>
                  <a:close/>
                </a:path>
              </a:pathLst>
            </a:custGeom>
            <a:solidFill>
              <a:srgbClr val="C00000"/>
            </a:solidFill>
            <a:ln w="19050" cap="sq">
              <a:solidFill>
                <a:srgbClr val="172C51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4081548" y="191195"/>
            <a:ext cx="10124904" cy="8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Future Scope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505325" y="2107153"/>
            <a:ext cx="11003622" cy="457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• Expand and regularly validate the movie dataset.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• Add filters for year, language, genre and director.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• Improve fuzzy search by displaying multiple ranked suggestions.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• Add a graphical user interface for easier interaction.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• Connect to a database or movie-information API.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• Add ratings, sorting preferences and watchlists.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• Explore recommendation algorithms based on genre or user preferences.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3440"/>
                </a:solidFill>
                <a:latin typeface="Aptos"/>
                <a:ea typeface="Aptos"/>
                <a:cs typeface="Aptos"/>
                <a:sym typeface="Aptos"/>
              </a:rPr>
              <a:t>• Add automated unit tests and performance comparisons for algorithms.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E5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6675"/>
            <a:ext cx="3152775" cy="1350169"/>
            <a:chOff x="0" y="0"/>
            <a:chExt cx="4203700" cy="1800225"/>
          </a:xfrm>
        </p:grpSpPr>
        <p:sp>
          <p:nvSpPr>
            <p:cNvPr name="Freeform 3" id="3" descr="KL University Hyderabad"/>
            <p:cNvSpPr/>
            <p:nvPr/>
          </p:nvSpPr>
          <p:spPr>
            <a:xfrm flipH="false" flipV="false" rot="0">
              <a:off x="0" y="0"/>
              <a:ext cx="4203700" cy="1800225"/>
            </a:xfrm>
            <a:custGeom>
              <a:avLst/>
              <a:gdLst/>
              <a:ahLst/>
              <a:cxnLst/>
              <a:rect r="r" b="b" t="t" l="l"/>
              <a:pathLst>
                <a:path h="1800225" w="4203700">
                  <a:moveTo>
                    <a:pt x="0" y="0"/>
                  </a:moveTo>
                  <a:lnTo>
                    <a:pt x="4203700" y="0"/>
                  </a:lnTo>
                  <a:lnTo>
                    <a:pt x="4203700" y="1800225"/>
                  </a:lnTo>
                  <a:lnTo>
                    <a:pt x="0" y="1800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7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217944"/>
            <a:ext cx="18288000" cy="69056"/>
            <a:chOff x="0" y="0"/>
            <a:chExt cx="24384000" cy="920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92075"/>
            </a:xfrm>
            <a:custGeom>
              <a:avLst/>
              <a:gdLst/>
              <a:ahLst/>
              <a:cxnLst/>
              <a:rect r="r" b="b" t="t" l="l"/>
              <a:pathLst>
                <a:path h="920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2075"/>
                  </a:lnTo>
                  <a:lnTo>
                    <a:pt x="0" y="92075"/>
                  </a:lnTo>
                  <a:close/>
                </a:path>
              </a:pathLst>
            </a:custGeom>
            <a:solidFill>
              <a:srgbClr val="BA253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69056"/>
            <a:chOff x="0" y="0"/>
            <a:chExt cx="24384000" cy="920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92075"/>
            </a:xfrm>
            <a:custGeom>
              <a:avLst/>
              <a:gdLst/>
              <a:ahLst/>
              <a:cxnLst/>
              <a:rect r="r" b="b" t="t" l="l"/>
              <a:pathLst>
                <a:path h="920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2075"/>
                  </a:lnTo>
                  <a:lnTo>
                    <a:pt x="0" y="92075"/>
                  </a:lnTo>
                  <a:close/>
                </a:path>
              </a:pathLst>
            </a:custGeom>
            <a:solidFill>
              <a:srgbClr val="BA253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594633" y="3919538"/>
            <a:ext cx="7438425" cy="2055780"/>
            <a:chOff x="0" y="0"/>
            <a:chExt cx="9917900" cy="2741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17938" cy="2741040"/>
            </a:xfrm>
            <a:custGeom>
              <a:avLst/>
              <a:gdLst/>
              <a:ahLst/>
              <a:cxnLst/>
              <a:rect r="r" b="b" t="t" l="l"/>
              <a:pathLst>
                <a:path h="2741040" w="9917938">
                  <a:moveTo>
                    <a:pt x="0" y="456819"/>
                  </a:moveTo>
                  <a:cubicBezTo>
                    <a:pt x="0" y="204597"/>
                    <a:pt x="204597" y="0"/>
                    <a:pt x="456819" y="0"/>
                  </a:cubicBezTo>
                  <a:lnTo>
                    <a:pt x="9461119" y="0"/>
                  </a:lnTo>
                  <a:cubicBezTo>
                    <a:pt x="9713468" y="0"/>
                    <a:pt x="9917938" y="204597"/>
                    <a:pt x="9917938" y="456819"/>
                  </a:cubicBezTo>
                  <a:lnTo>
                    <a:pt x="9917938" y="2284221"/>
                  </a:lnTo>
                  <a:cubicBezTo>
                    <a:pt x="9917938" y="2536570"/>
                    <a:pt x="9713340" y="2741040"/>
                    <a:pt x="9461119" y="2741040"/>
                  </a:cubicBezTo>
                  <a:lnTo>
                    <a:pt x="456819" y="2741040"/>
                  </a:lnTo>
                  <a:cubicBezTo>
                    <a:pt x="204597" y="2741040"/>
                    <a:pt x="0" y="2536443"/>
                    <a:pt x="0" y="2284221"/>
                  </a:cubicBezTo>
                  <a:close/>
                </a:path>
              </a:pathLst>
            </a:custGeom>
            <a:solidFill>
              <a:srgbClr val="C00000"/>
            </a:solidFill>
            <a:ln w="19050" cap="sq">
              <a:solidFill>
                <a:srgbClr val="172C51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9917900" cy="27410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1955B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THANK YOU!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DAHXuKyG4Kk</dc:identifier>
  <dcterms:modified xsi:type="dcterms:W3CDTF">2011-08-01T06:04:30Z</dcterms:modified>
  <cp:revision>1</cp:revision>
  <dc:title>MovieFlix_Final_Presentation.pptx</dc:title>
</cp:coreProperties>
</file>